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413d694924d44c4" /><Relationship Type="http://schemas.openxmlformats.org/officeDocument/2006/relationships/extended-properties" Target="/docProps/app.xml" Id="R3dfbfb5f572b43af" /><Relationship Type="http://schemas.openxmlformats.org/officeDocument/2006/relationships/officeDocument" Target="/ppt/presentation.xml" Id="Rcb58827a39ef40f2" /></Relationships>
</file>

<file path=ppt/presentation.xml><?xml version="1.0" encoding="utf-8"?>
<p:presentation xmlns:p="http://schemas.openxmlformats.org/presentationml/2006/main">
  <p:sldMasterIdLst>
    <p:sldMasterId xmlns:r="http://schemas.openxmlformats.org/officeDocument/2006/relationships" id="2147483648" r:id="R134df893506d4ea4"/>
    <p:sldMasterId xmlns:r="http://schemas.openxmlformats.org/officeDocument/2006/relationships" id="2147483650" r:id="R7ead2527584149e7"/>
  </p:sldMasterIdLst>
  <p:notesMasterIdLst>
    <p:notesMasterId xmlns:r="http://schemas.openxmlformats.org/officeDocument/2006/relationships" r:id="R62a7151e894d4916"/>
  </p:notesMasterIdLst>
  <p:sldIdLst>
    <p:sldId xmlns:r="http://schemas.openxmlformats.org/officeDocument/2006/relationships" id="256" r:id="R81cdd61cc5f44e9d"/>
    <p:sldId xmlns:r="http://schemas.openxmlformats.org/officeDocument/2006/relationships" id="257" r:id="Ra8996e5c6eae4080"/>
    <p:sldId xmlns:r="http://schemas.openxmlformats.org/officeDocument/2006/relationships" id="258" r:id="Rfe1d0760b21247b4"/>
    <p:sldId xmlns:r="http://schemas.openxmlformats.org/officeDocument/2006/relationships" id="259" r:id="Rb19446573181437b"/>
    <p:sldId xmlns:r="http://schemas.openxmlformats.org/officeDocument/2006/relationships" id="260" r:id="R8e76c27c4fe04ce5"/>
    <p:sldId xmlns:r="http://schemas.openxmlformats.org/officeDocument/2006/relationships" id="261" r:id="R627dc7a1dbce4982"/>
    <p:sldId xmlns:r="http://schemas.openxmlformats.org/officeDocument/2006/relationships" id="262" r:id="R1944570da2fb4c98"/>
    <p:sldId xmlns:r="http://schemas.openxmlformats.org/officeDocument/2006/relationships" id="263" r:id="R16b0589d7c214ced"/>
    <p:sldId xmlns:r="http://schemas.openxmlformats.org/officeDocument/2006/relationships" id="264" r:id="R31055b8be9c64a6d"/>
    <p:sldId xmlns:r="http://schemas.openxmlformats.org/officeDocument/2006/relationships" id="265" r:id="R08b036913f6d42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ec4399030b49c0" /><Relationship Type="http://schemas.openxmlformats.org/officeDocument/2006/relationships/slideMaster" Target="/ppt/slideMasters/slideMaster1.xml" Id="R134df893506d4ea4" /><Relationship Type="http://schemas.openxmlformats.org/officeDocument/2006/relationships/slideMaster" Target="/ppt/slideMasters/slideMaster2.xml" Id="R7ead2527584149e7" /><Relationship Type="http://schemas.openxmlformats.org/officeDocument/2006/relationships/notesMaster" Target="/ppt/notesMasters/notesMaster1.xml" Id="R62a7151e894d4916" /><Relationship Type="http://schemas.openxmlformats.org/officeDocument/2006/relationships/presProps" Target="/ppt/presProps.xml" Id="R0be491d1ee054220" /><Relationship Type="http://schemas.openxmlformats.org/officeDocument/2006/relationships/tableStyles" Target="/ppt/tableStyles.xml" Id="Rb952c5a04056402c" /><Relationship Type="http://schemas.openxmlformats.org/officeDocument/2006/relationships/slide" Target="/ppt/slides/slide1.xml" Id="R81cdd61cc5f44e9d" /><Relationship Type="http://schemas.openxmlformats.org/officeDocument/2006/relationships/slide" Target="/ppt/slides/slide2.xml" Id="Ra8996e5c6eae4080" /><Relationship Type="http://schemas.openxmlformats.org/officeDocument/2006/relationships/slide" Target="/ppt/slides/slide3.xml" Id="Rfe1d0760b21247b4" /><Relationship Type="http://schemas.openxmlformats.org/officeDocument/2006/relationships/slide" Target="/ppt/slides/slide4.xml" Id="Rb19446573181437b" /><Relationship Type="http://schemas.openxmlformats.org/officeDocument/2006/relationships/slide" Target="/ppt/slides/slide5.xml" Id="R8e76c27c4fe04ce5" /><Relationship Type="http://schemas.openxmlformats.org/officeDocument/2006/relationships/slide" Target="/ppt/slides/slide6.xml" Id="R627dc7a1dbce4982" /><Relationship Type="http://schemas.openxmlformats.org/officeDocument/2006/relationships/slide" Target="/ppt/slides/slide7.xml" Id="R1944570da2fb4c98" /><Relationship Type="http://schemas.openxmlformats.org/officeDocument/2006/relationships/slide" Target="/ppt/slides/slide8.xml" Id="R16b0589d7c214ced" /><Relationship Type="http://schemas.openxmlformats.org/officeDocument/2006/relationships/slide" Target="/ppt/slides/slide9.xml" Id="R31055b8be9c64a6d" /><Relationship Type="http://schemas.openxmlformats.org/officeDocument/2006/relationships/slide" Target="/ppt/slides/slide10.xml" Id="R08b036913f6d42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8c654cff699f40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onsulting Master 01">
      <a:dk1>
        <a:srgbClr val="183445"/>
      </a:dk1>
      <a:lt1>
        <a:srgbClr val="FFFFFF"/>
      </a:lt1>
      <a:dk2>
        <a:srgbClr val="092B40"/>
      </a:dk2>
      <a:lt2>
        <a:srgbClr val="EFF5F6"/>
      </a:lt2>
      <a:accent1>
        <a:srgbClr val="092B40"/>
      </a:accent1>
      <a:accent2>
        <a:srgbClr val="007F82"/>
      </a:accent2>
      <a:accent3>
        <a:srgbClr val="9EB4C0"/>
      </a:accent3>
      <a:accent4>
        <a:srgbClr val="B67E31"/>
      </a:accent4>
      <a:accent5>
        <a:srgbClr val="8E514E"/>
      </a:accent5>
      <a:accent6>
        <a:srgbClr val="576976"/>
      </a:accent6>
      <a:hlink>
        <a:srgbClr val="007F82"/>
      </a:hlink>
      <a:folHlink>
        <a:srgbClr val="007F82"/>
      </a:folHlink>
    </a:clrScheme>
    <a:fontScheme name="Office">
      <a:majorFont>
        <a:latin typeface="Calibri Light"/>
        <a:ea typeface="Calibri Light"/>
        <a:cs typeface="Calibri Light"/>
      </a:majorFont>
      <a:minorFont>
        <a:latin typeface="Calibri"/>
        <a:ea typeface="Calibri"/>
        <a:cs typeface="Calibri"/>
      </a:minorFont>
    </a:fontScheme>
    <a:fmtScheme name="Consulting Master 01">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47944fe41645f0" /><Relationship Type="http://schemas.openxmlformats.org/officeDocument/2006/relationships/notesMaster" Target="/ppt/notesMasters/notesMaster1.xml" Id="R2a60505ebb1346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516164e99e4eee" /><Relationship Type="http://schemas.openxmlformats.org/officeDocument/2006/relationships/notesMaster" Target="/ppt/notesMasters/notesMaster1.xml" Id="R14a44da122764a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d1511f505e4cd9" /><Relationship Type="http://schemas.openxmlformats.org/officeDocument/2006/relationships/notesMaster" Target="/ppt/notesMasters/notesMaster1.xml" Id="R5fd478a358c04a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6e11faf7df4510" /><Relationship Type="http://schemas.openxmlformats.org/officeDocument/2006/relationships/notesMaster" Target="/ppt/notesMasters/notesMaster1.xml" Id="R9f3ce43bdd314f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1a82ff1bdf4858" /><Relationship Type="http://schemas.openxmlformats.org/officeDocument/2006/relationships/notesMaster" Target="/ppt/notesMasters/notesMaster1.xml" Id="Rfd26f57b01014a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2edf3a75ea4a0f" /><Relationship Type="http://schemas.openxmlformats.org/officeDocument/2006/relationships/notesMaster" Target="/ppt/notesMasters/notesMaster1.xml" Id="Reed6c6937f7847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904acf63fd4a73" /><Relationship Type="http://schemas.openxmlformats.org/officeDocument/2006/relationships/notesMaster" Target="/ppt/notesMasters/notesMaster1.xml" Id="R69ca1e546e684d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a5ed0e0f654a65" /><Relationship Type="http://schemas.openxmlformats.org/officeDocument/2006/relationships/notesMaster" Target="/ppt/notesMasters/notesMaster1.xml" Id="R2a3d7c2cbdaa48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20409ff06b4dbe" /><Relationship Type="http://schemas.openxmlformats.org/officeDocument/2006/relationships/notesMaster" Target="/ppt/notesMasters/notesMaster1.xml" Id="R35205950a9eb4d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0061408cd34519" /><Relationship Type="http://schemas.openxmlformats.org/officeDocument/2006/relationships/notesMaster" Target="/ppt/notesMasters/notesMaster1.xml" Id="Rc6cce17b41894b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t>
            </a:r>
          </a:p>
          <a:p xmlns:a="http://schemas.openxmlformats.org/drawingml/2006/main">
            <a:r>
              <a:t>Replace each bracketed field. State the customer and measurable outcome in one sentence. Name the decision or funding round. Add your own logo only if it improves recognition. Keep the title to two lines.</a:t>
            </a:r>
          </a:p>
          <a:p xmlns:a="http://schemas.openxmlformats.org/drawingml/2006/main">
            <a:r>
              <a:t/>
            </a:r>
          </a:p>
          <a:p xmlns:a="http://schemas.openxmlformats.org/drawingml/2006/main">
            <a:r>
              <a:t>Design reference: https://slideuplift.com/blog/mckinsey-style-presentation/</a:t>
            </a:r>
          </a:p>
          <a:p xmlns:a="http://schemas.openxmlformats.org/drawingml/2006/main">
            <a:r>
              <a:t>Accessed 5 October 2026. Independent template inspired by the article. No affiliation with McKinsey or SlideUpLift.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EXECUTIVE SUMMARY</a:t>
            </a:r>
          </a:p>
          <a:p xmlns:a="http://schemas.openxmlformats.org/drawingml/2006/main">
            <a:r>
              <a:t>State the requested decision first. Use three distinct supporting arguments: opportunity, advantage and execution. Replace the prompts with claims you can substantiate on slides 3 through 10. Include the expected impact and the next step. A reader should understand the pitch from this slide alone.</a:t>
            </a:r>
          </a:p>
          <a:p xmlns:a="http://schemas.openxmlformats.org/drawingml/2006/main">
            <a:r>
              <a:t/>
            </a:r>
          </a:p>
          <a:p xmlns:a="http://schemas.openxmlformats.org/drawingml/2006/main">
            <a:r>
              <a:t>Design reference: https://slideuplift.com/blog/mckinsey-style-presentation/</a:t>
            </a:r>
          </a:p>
          <a:p xmlns:a="http://schemas.openxmlformats.org/drawingml/2006/main">
            <a:r>
              <a:t>Accessed 5 October 2026. Independent template inspired by the article. No affiliation with McKinsey or SlideUpLift.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OPPORTUNITY</a:t>
            </a:r>
          </a:p>
          <a:p xmlns:a="http://schemas.openxmlformats.org/drawingml/2006/main">
            <a:r>
              <a:t>Define customer, geography and base year. Use one currency and annual basis consistently. Define total, serviceable and initial obtainable market without double counting. Show reachable buyers, expected win rate and annual spend. Source any growth rate and explain the timing. No company or market estimates have been supplied.</a:t>
            </a:r>
          </a:p>
          <a:p xmlns:a="http://schemas.openxmlformats.org/drawingml/2006/main">
            <a:r>
              <a:t/>
            </a:r>
          </a:p>
          <a:p xmlns:a="http://schemas.openxmlformats.org/drawingml/2006/main">
            <a:r>
              <a:t>Design reference: https://slideuplift.com/blog/mckinsey-style-presentation/</a:t>
            </a:r>
          </a:p>
          <a:p xmlns:a="http://schemas.openxmlformats.org/drawingml/2006/main">
            <a:r>
              <a:t>Accessed 5 October 2026. Independent template inspired by the article. No affiliation with McKinsey or SlideUpLift.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 PROBLEM</a:t>
            </a:r>
          </a:p>
          <a:p xmlns:a="http://schemas.openxmlformats.org/drawingml/2006/main">
            <a:r>
              <a:t>Chart sample values are 50, 30 and 20. They are illustrative and are not company facts. Replace via PowerPoint Edit Data and update the unit and category labels. Use three mutually exclusive causes of the problem. Quantify the annual cost per customer using research. Retain source, interview count or survey methodology where material.</a:t>
            </a:r>
          </a:p>
          <a:p xmlns:a="http://schemas.openxmlformats.org/drawingml/2006/main">
            <a:r>
              <a:t/>
            </a:r>
          </a:p>
          <a:p xmlns:a="http://schemas.openxmlformats.org/drawingml/2006/main">
            <a:r>
              <a:t>Design reference: https://slideuplift.com/blog/mckinsey-style-presentation/</a:t>
            </a:r>
          </a:p>
          <a:p xmlns:a="http://schemas.openxmlformats.org/drawingml/2006/main">
            <a:r>
              <a:t>Accessed 5 October 2026. Independent template inspired by the article. No affiliation with McKinsey or SlideUpLift.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SOLUTION</a:t>
            </a:r>
          </a:p>
          <a:p xmlns:a="http://schemas.openxmlformats.org/drawingml/2006/main">
            <a:r>
              <a:t>Show one product workflow in three steps. Describe customer inputs, the core task and the usable result. Keep the improvement claim only if measured or label it as a target. State the baseline, unit, period and evidence for the before-and-after comparison. The workflow shapes remain editable.</a:t>
            </a:r>
          </a:p>
          <a:p xmlns:a="http://schemas.openxmlformats.org/drawingml/2006/main">
            <a:r>
              <a:t/>
            </a:r>
          </a:p>
          <a:p xmlns:a="http://schemas.openxmlformats.org/drawingml/2006/main">
            <a:r>
              <a:t>Design reference: https://slideuplift.com/blog/mckinsey-style-presentation/</a:t>
            </a:r>
          </a:p>
          <a:p xmlns:a="http://schemas.openxmlformats.org/drawingml/2006/main">
            <a:r>
              <a:t>Accessed 5 October 2026. Independent template inspired by the article. No affiliation with McKinsey or SlideUpLift.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TRACTION</a:t>
            </a:r>
          </a:p>
          <a:p xmlns:a="http://schemas.openxmlformats.org/drawingml/2006/main">
            <a:r>
              <a:t>The chart contains synthetic index values 100, 115, 131, 152, 181 and 210. Replace every value and time label via Edit Data. Use a metric relevant to the business stage. Label actuals and forecasts distinctly. Define retention and cohort periods. If pre-revenue, use verified pilot or adoption evidence and rename the metric. Do not imply sample numbers are actual results.</a:t>
            </a:r>
          </a:p>
          <a:p xmlns:a="http://schemas.openxmlformats.org/drawingml/2006/main">
            <a:r>
              <a:t/>
            </a:r>
          </a:p>
          <a:p xmlns:a="http://schemas.openxmlformats.org/drawingml/2006/main">
            <a:r>
              <a:t>Design reference: https://slideuplift.com/blog/mckinsey-style-presentation/</a:t>
            </a:r>
          </a:p>
          <a:p xmlns:a="http://schemas.openxmlformats.org/drawingml/2006/main">
            <a:r>
              <a:t>Accessed 5 October 2026. Independent template inspired by the article. No affiliation with McKinsey or SlideUpLift.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a:t>
            </a:r>
          </a:p>
          <a:p xmlns:a="http://schemas.openxmlformats.org/drawingml/2006/main">
            <a:r>
              <a:t>Define the payer, billable unit, pricing and billing period. Keep units consistent across current and projected economics. State which costs enter gross margin and customer acquisition cost. Show the payback formula and distinguish actuals from assumptions. If estimates are not yet reliable, use brackets and describe the evidence needed.</a:t>
            </a:r>
          </a:p>
          <a:p xmlns:a="http://schemas.openxmlformats.org/drawingml/2006/main">
            <a:r>
              <a:t/>
            </a:r>
          </a:p>
          <a:p xmlns:a="http://schemas.openxmlformats.org/drawingml/2006/main">
            <a:r>
              <a:t>Design reference: https://slideuplift.com/blog/mckinsey-style-presentation/</a:t>
            </a:r>
          </a:p>
          <a:p xmlns:a="http://schemas.openxmlformats.org/drawingml/2006/main">
            <a:r>
              <a:t>Accessed 5 October 2026. Independent template inspired by the article. No affiliation with McKinsey or SlideUpLift.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COMPETITIVE ADVANTAGE</a:t>
            </a:r>
          </a:p>
          <a:p xmlns:a="http://schemas.openxmlformats.org/drawingml/2006/main">
            <a:r>
              <a:t>Compare direct competitors and the status quo against the buyer’s actual decision criteria. Use comparable units and the same date for each alternative. Replace evidence placeholders with short, factual comparisons. Avoid unsupported checkmarks or superiority claims. Cite independent or primary evidence for competitor claims. Explain what makes your advantage durable.</a:t>
            </a:r>
          </a:p>
          <a:p xmlns:a="http://schemas.openxmlformats.org/drawingml/2006/main">
            <a:r>
              <a:t/>
            </a:r>
          </a:p>
          <a:p xmlns:a="http://schemas.openxmlformats.org/drawingml/2006/main">
            <a:r>
              <a:t>Design reference: https://slideuplift.com/blog/mckinsey-style-presentation/</a:t>
            </a:r>
          </a:p>
          <a:p xmlns:a="http://schemas.openxmlformats.org/drawingml/2006/main">
            <a:r>
              <a:t>Accessed 5 October 2026. Independent template inspired by the article. No affiliation with McKinsey or SlideUpLift.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GO-TO-MARKET PLAN</a:t>
            </a:r>
          </a:p>
          <a:p xmlns:a="http://schemas.openxmlformats.org/drawingml/2006/main">
            <a:r>
              <a:t>Choose one initial customer segment and a channel you can test. Quantify acquisition cost and conversion assumptions. Explain activation and retention. Name the accountable team member and one relevant achievement. Include the next critical hire where needed. Keep channel hypotheses clearly labeled until evidence exists.</a:t>
            </a:r>
          </a:p>
          <a:p xmlns:a="http://schemas.openxmlformats.org/drawingml/2006/main">
            <a:r>
              <a:t/>
            </a:r>
          </a:p>
          <a:p xmlns:a="http://schemas.openxmlformats.org/drawingml/2006/main">
            <a:r>
              <a:t>Design reference: https://slideuplift.com/blog/mckinsey-style-presentation/</a:t>
            </a:r>
          </a:p>
          <a:p xmlns:a="http://schemas.openxmlformats.org/drawingml/2006/main">
            <a:r>
              <a:t>Accessed 5 October 2026. Independent template inspired by the article. No affiliation with McKinsey or SlideUpLift.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FUNDING AND MILESTONES</a:t>
            </a:r>
          </a:p>
          <a:p xmlns:a="http://schemas.openxmlformats.org/drawingml/2006/main">
            <a:r>
              <a:t>State the amount, intended runway and outcome the funding enables. Make allocations sum to the requested amount. Connect each use of funds to a measurable milestone, date and owner. Identify the main risk and response. End with a specific decision and next step. Link runway to your cash flow forecast rather than revenue alone.</a:t>
            </a:r>
          </a:p>
          <a:p xmlns:a="http://schemas.openxmlformats.org/drawingml/2006/main">
            <a:r>
              <a:t/>
            </a:r>
          </a:p>
          <a:p xmlns:a="http://schemas.openxmlformats.org/drawingml/2006/main">
            <a:r>
              <a:t>Design reference: https://slideuplift.com/blog/mckinsey-style-presentation/</a:t>
            </a:r>
          </a:p>
          <a:p xmlns:a="http://schemas.openxmlformats.org/drawingml/2006/main">
            <a:r>
              <a:t>Accessed 5 October 2026. Independent template inspired by the article. No affiliation with McKinsey or SlideUpLift.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63b92f317d4b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030ca9cac28843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b57b9949c92547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dce7bba522b8457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26da7f8c6e494f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2.xml" Id="R014d75009d2d4e8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dc5716e0e7fc42f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d0020d687cc54de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d9e6a5c13dbc4aa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fa7b6f10019145e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73ac16a694c44d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01 Investment proposition">
    <p:bg>
      <p:bgPr>
        <a:solidFill xmlns:a="http://schemas.openxmlformats.org/drawingml/2006/main">
          <a:srgbClr val="092B40"/>
        </a:solidFill>
      </p:bgPr>
    </p:bg>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9120EEE3-BE84-4BD4-8D58-D851F1B28376}"/>
              </a:ext>
            </a:extLst>
          </p:cNvPr>
          <p:cNvSpPr>
            <a:spLocks xmlns:a="http://schemas.openxmlformats.org/drawingml/2006/main" noGrp="1"/>
          </p:cNvSpPr>
          <p:nvPr>
            <p:ph type="title" idx="0"/>
          </p:nvPr>
        </p:nvSpPr>
        <p:spPr>
          <a:xfrm xmlns:a="http://schemas.openxmlformats.org/drawingml/2006/main">
            <a:off x="609600" y="2038350"/>
            <a:ext cx="10477500" cy="1809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[Company] creates [outcome] for [customer]</a:t>
            </a:r>
          </a:p>
        </p:txBody>
      </p:sp>
    </p:spTree>
  </p:cSld>
</p:sldLayout>
</file>

<file path=ppt/slideLayouts/slideLayout3.xml><?xml version="1.0" encoding="utf-8"?>
<p:sldLayout xmlns:p="http://schemas.openxmlformats.org/presentationml/2006/main">
  <p:cSld name="02 Executive summary">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FF38E55-FF8B-45AA-AC3A-4C1D14FCB094}"/>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D9E2E7"/>
            </a:solidFill>
          </a:ln>
        </p:spPr>
      </p:sp>
    </p:spTree>
  </p:cSld>
</p:sldLayout>
</file>

<file path=ppt/slideLayouts/slideLayout4.xml><?xml version="1.0" encoding="utf-8"?>
<p:sldLayout xmlns:p="http://schemas.openxmlformats.org/presentationml/2006/main">
  <p:cSld name="03 Market opportunity">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0AA69D4-2541-41DC-892D-D706D62460E1}"/>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D9E2E7"/>
            </a:solidFill>
          </a:ln>
        </p:spPr>
      </p:sp>
    </p:spTree>
  </p:cSld>
</p:sldLayout>
</file>

<file path=ppt/slideLayouts/slideLayout5.xml><?xml version="1.0" encoding="utf-8"?>
<p:sldLayout xmlns:p="http://schemas.openxmlformats.org/presentationml/2006/main">
  <p:cSld name="04 Customer problem">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07DC63-F110-4BCF-863B-3D0A04496921}"/>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D9E2E7"/>
            </a:solidFill>
          </a:ln>
        </p:spPr>
      </p:sp>
    </p:spTree>
  </p:cSld>
</p:sldLayout>
</file>

<file path=ppt/slideLayouts/slideLayout6.xml><?xml version="1.0" encoding="utf-8"?>
<p:sldLayout xmlns:p="http://schemas.openxmlformats.org/presentationml/2006/main">
  <p:cSld name="05 Our solution">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65297E1-3521-410B-87A9-B14C6757FBBD}"/>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D9E2E7"/>
            </a:solidFill>
          </a:ln>
        </p:spPr>
      </p:sp>
    </p:spTree>
  </p:cSld>
</p:sldLayout>
</file>

<file path=ppt/slideLayouts/slideLayout7.xml><?xml version="1.0" encoding="utf-8"?>
<p:sldLayout xmlns:p="http://schemas.openxmlformats.org/presentationml/2006/main">
  <p:cSld name="06 Traction">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3C43F0C-E842-4DE6-9CA9-1777E17709E4}"/>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D9E2E7"/>
            </a:solidFill>
          </a:ln>
        </p:spPr>
      </p:sp>
    </p:spTree>
  </p:cSld>
</p:sldLayout>
</file>

<file path=ppt/slideLayouts/slideLayout8.xml><?xml version="1.0" encoding="utf-8"?>
<p:sldLayout xmlns:p="http://schemas.openxmlformats.org/presentationml/2006/main">
  <p:cSld name="07 Business model">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BA0209-BB2A-4B1F-AF95-BDF2EDC32035}"/>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D9E2E7"/>
            </a:solidFill>
          </a:ln>
        </p:spPr>
      </p:sp>
    </p:spTree>
  </p:cSld>
</p:sldLayout>
</file>

<file path=ppt/slideLayouts/slideLayout9.xml><?xml version="1.0" encoding="utf-8"?>
<p:sldLayout xmlns:p="http://schemas.openxmlformats.org/presentationml/2006/main">
  <p:cSld name="08 Competitive advantage">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9FBF027-6260-4B22-913B-C9DAD6F47833}"/>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D9E2E7"/>
            </a:solidFill>
          </a:ln>
        </p:spPr>
      </p:sp>
    </p:spTree>
  </p:cSld>
</p:sldLayout>
</file>

<file path=ppt/slideLayouts/slideLayout10.xml><?xml version="1.0" encoding="utf-8"?>
<p:sldLayout xmlns:p="http://schemas.openxmlformats.org/presentationml/2006/main">
  <p:cSld name="09 Go-to-market plan">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DFA1B8D-1DDD-4AFF-A474-6E2B1BFFFFCF}"/>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D9E2E7"/>
            </a:solidFill>
          </a:ln>
        </p:spPr>
      </p:sp>
    </p:spTree>
  </p:cSld>
</p:sldLayout>
</file>

<file path=ppt/slideLayouts/slideLayout11.xml><?xml version="1.0" encoding="utf-8"?>
<p:sldLayout xmlns:p="http://schemas.openxmlformats.org/presentationml/2006/main">
  <p:cSld name="10 Funding and milestones">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BA9AE4-2EF3-4931-83DB-F1B2222BCC93}"/>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D9E2E7"/>
            </a:solid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299870271e4654" /><Relationship Type="http://schemas.openxmlformats.org/officeDocument/2006/relationships/slideLayout" Target="/ppt/slideLayouts/slideLayout1.xml" Id="R2fd9c7bef64a4e1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c4013bcbe2c49ab" /><Relationship Type="http://schemas.openxmlformats.org/officeDocument/2006/relationships/slideLayout" Target="/ppt/slideLayouts/slideLayout2.xml" Id="Ra9693ad742124b39" /><Relationship Type="http://schemas.openxmlformats.org/officeDocument/2006/relationships/slideLayout" Target="/ppt/slideLayouts/slideLayout3.xml" Id="Rcb48d91843ec4a7c" /><Relationship Type="http://schemas.openxmlformats.org/officeDocument/2006/relationships/slideLayout" Target="/ppt/slideLayouts/slideLayout4.xml" Id="R068f300cee05460b" /><Relationship Type="http://schemas.openxmlformats.org/officeDocument/2006/relationships/slideLayout" Target="/ppt/slideLayouts/slideLayout5.xml" Id="Ra2df7df457984fe2" /><Relationship Type="http://schemas.openxmlformats.org/officeDocument/2006/relationships/slideLayout" Target="/ppt/slideLayouts/slideLayout6.xml" Id="R063145a36bcd4b3c" /><Relationship Type="http://schemas.openxmlformats.org/officeDocument/2006/relationships/slideLayout" Target="/ppt/slideLayouts/slideLayout7.xml" Id="Rd0af91dae33d43ca" /><Relationship Type="http://schemas.openxmlformats.org/officeDocument/2006/relationships/slideLayout" Target="/ppt/slideLayouts/slideLayout8.xml" Id="R0a53220ac7fd497c" /><Relationship Type="http://schemas.openxmlformats.org/officeDocument/2006/relationships/slideLayout" Target="/ppt/slideLayouts/slideLayout9.xml" Id="Rb5fe84fc07c047c6" /><Relationship Type="http://schemas.openxmlformats.org/officeDocument/2006/relationships/slideLayout" Target="/ppt/slideLayouts/slideLayout10.xml" Id="R53d0386ff86e4dab" /><Relationship Type="http://schemas.openxmlformats.org/officeDocument/2006/relationships/slideLayout" Target="/ppt/slideLayouts/slideLayout11.xml" Id="Re59841644f104e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d9c7bef64a4e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01 Consulting Pitch">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a9693ad742124b39"/>
    <p:sldLayoutId xmlns:r="http://schemas.openxmlformats.org/officeDocument/2006/relationships" id="2147483652" r:id="Rcb48d91843ec4a7c"/>
    <p:sldLayoutId xmlns:r="http://schemas.openxmlformats.org/officeDocument/2006/relationships" id="2147483653" r:id="R068f300cee05460b"/>
    <p:sldLayoutId xmlns:r="http://schemas.openxmlformats.org/officeDocument/2006/relationships" id="2147483654" r:id="Ra2df7df457984fe2"/>
    <p:sldLayoutId xmlns:r="http://schemas.openxmlformats.org/officeDocument/2006/relationships" id="2147483655" r:id="R063145a36bcd4b3c"/>
    <p:sldLayoutId xmlns:r="http://schemas.openxmlformats.org/officeDocument/2006/relationships" id="2147483656" r:id="Rd0af91dae33d43ca"/>
    <p:sldLayoutId xmlns:r="http://schemas.openxmlformats.org/officeDocument/2006/relationships" id="2147483657" r:id="R0a53220ac7fd497c"/>
    <p:sldLayoutId xmlns:r="http://schemas.openxmlformats.org/officeDocument/2006/relationships" id="2147483658" r:id="Rb5fe84fc07c047c6"/>
    <p:sldLayoutId xmlns:r="http://schemas.openxmlformats.org/officeDocument/2006/relationships" id="2147483659" r:id="R53d0386ff86e4dab"/>
    <p:sldLayoutId xmlns:r="http://schemas.openxmlformats.org/officeDocument/2006/relationships" id="2147483660" r:id="Re59841644f104e66"/>
  </p:sldLayoutIdLst>
</p:sldMaster>
</file>

<file path=ppt/slideMasters/theme/theme2.xml><?xml version="1.0" encoding="utf-8"?>
<a:theme xmlns:a="http://schemas.openxmlformats.org/drawingml/2006/main" name="ChatGPT">
  <a:themeElements>
    <a:clrScheme name="Consulting Master 01">
      <a:dk1>
        <a:srgbClr val="183445"/>
      </a:dk1>
      <a:lt1>
        <a:srgbClr val="FFFFFF"/>
      </a:lt1>
      <a:dk2>
        <a:srgbClr val="092B40"/>
      </a:dk2>
      <a:lt2>
        <a:srgbClr val="EFF5F6"/>
      </a:lt2>
      <a:accent1>
        <a:srgbClr val="092B40"/>
      </a:accent1>
      <a:accent2>
        <a:srgbClr val="007F82"/>
      </a:accent2>
      <a:accent3>
        <a:srgbClr val="9EB4C0"/>
      </a:accent3>
      <a:accent4>
        <a:srgbClr val="B67E31"/>
      </a:accent4>
      <a:accent5>
        <a:srgbClr val="8E514E"/>
      </a:accent5>
      <a:accent6>
        <a:srgbClr val="576976"/>
      </a:accent6>
      <a:hlink>
        <a:srgbClr val="007F82"/>
      </a:hlink>
      <a:folHlink>
        <a:srgbClr val="007F82"/>
      </a:folHlink>
    </a:clrScheme>
    <a:fontScheme name="Office">
      <a:majorFont>
        <a:latin typeface="Calibri Light"/>
        <a:ea typeface="Calibri Light"/>
        <a:cs typeface="Calibri Light"/>
      </a:majorFont>
      <a:minorFont>
        <a:latin typeface="Calibri"/>
        <a:ea typeface="Calibri"/>
        <a:cs typeface="Calibri"/>
      </a:minorFont>
    </a:fontScheme>
    <a:fmtScheme name="Consulting Master 01">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nsulting Master 01">
      <a:dk1>
        <a:srgbClr val="183445"/>
      </a:dk1>
      <a:lt1>
        <a:srgbClr val="FFFFFF"/>
      </a:lt1>
      <a:dk2>
        <a:srgbClr val="092B40"/>
      </a:dk2>
      <a:lt2>
        <a:srgbClr val="EFF5F6"/>
      </a:lt2>
      <a:accent1>
        <a:srgbClr val="092B40"/>
      </a:accent1>
      <a:accent2>
        <a:srgbClr val="007F82"/>
      </a:accent2>
      <a:accent3>
        <a:srgbClr val="9EB4C0"/>
      </a:accent3>
      <a:accent4>
        <a:srgbClr val="B67E31"/>
      </a:accent4>
      <a:accent5>
        <a:srgbClr val="8E514E"/>
      </a:accent5>
      <a:accent6>
        <a:srgbClr val="576976"/>
      </a:accent6>
      <a:hlink>
        <a:srgbClr val="007F82"/>
      </a:hlink>
      <a:folHlink>
        <a:srgbClr val="007F82"/>
      </a:folHlink>
    </a:clrScheme>
    <a:fontScheme name="Office">
      <a:majorFont>
        <a:latin typeface="Calibri Light"/>
        <a:ea typeface="Calibri Light"/>
        <a:cs typeface="Calibri Light"/>
      </a:majorFont>
      <a:minorFont>
        <a:latin typeface="Calibri"/>
        <a:ea typeface="Calibri"/>
        <a:cs typeface="Calibri"/>
      </a:minorFont>
    </a:fontScheme>
    <a:fmtScheme name="Consulting Master 01">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538b9cbe9d2e474f" /><Relationship Type="http://schemas.openxmlformats.org/officeDocument/2006/relationships/notesSlide" Target="/ppt/notesSlides/notesSlide1.xml" Id="R5ae3f601022c40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2af758bf0e2542e9" /><Relationship Type="http://schemas.openxmlformats.org/officeDocument/2006/relationships/notesSlide" Target="/ppt/notesSlides/notesSlide2.xml" Id="Rd402c4bec27741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e9db335b736542b9" /><Relationship Type="http://schemas.openxmlformats.org/officeDocument/2006/relationships/notesSlide" Target="/ppt/notesSlides/notesSlide3.xml" Id="Raede367d77f344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a68e829d68fb4108" /><Relationship Type="http://schemas.openxmlformats.org/officeDocument/2006/relationships/chart" Target="/ppt/slides/charts/chart1.xml" Id="R3c1f03309e87467c" /><Relationship Type="http://schemas.openxmlformats.org/officeDocument/2006/relationships/notesSlide" Target="/ppt/notesSlides/notesSlide4.xml" Id="R406f0cea64d942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aca65fb6bf94c38" /><Relationship Type="http://schemas.openxmlformats.org/officeDocument/2006/relationships/notesSlide" Target="/ppt/notesSlides/notesSlide5.xml" Id="R0dba5848505d4c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bac9e11f166d4a6f" /><Relationship Type="http://schemas.openxmlformats.org/officeDocument/2006/relationships/chart" Target="/ppt/slides/charts/chart2.xml" Id="Rbfafb8858582493e" /><Relationship Type="http://schemas.openxmlformats.org/officeDocument/2006/relationships/notesSlide" Target="/ppt/notesSlides/notesSlide6.xml" Id="R0ef7392b18504a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74cd0be0aad14886" /><Relationship Type="http://schemas.openxmlformats.org/officeDocument/2006/relationships/notesSlide" Target="/ppt/notesSlides/notesSlide7.xml" Id="Re72912e01f104a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9.xml" Id="Rcafbdeb9abb4462f" /><Relationship Type="http://schemas.openxmlformats.org/officeDocument/2006/relationships/notesSlide" Target="/ppt/notesSlides/notesSlide8.xml" Id="R61a989dee9bf48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0.xml" Id="R3c6a877d7d2e4aa0" /><Relationship Type="http://schemas.openxmlformats.org/officeDocument/2006/relationships/notesSlide" Target="/ppt/notesSlides/notesSlide9.xml" Id="Ra4f5fc67f5064e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3f2a0e2551ac4c11" /><Relationship Type="http://schemas.openxmlformats.org/officeDocument/2006/relationships/notesSlide" Target="/ppt/notesSlides/notesSlide10.xml" Id="R3607b7f722d143d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Illustrative index</c:v>
          </c:tx>
          <c:spPr>
            <a:solidFill xmlns:a="http://schemas.openxmlformats.org/drawingml/2006/main">
              <a:srgbClr val="9EB4C0"/>
            </a:solidFill>
          </c:spPr>
          <c:dPt>
            <c:idx val="0"/>
            <c:invertIfNegative val="0"/>
            <c:spPr>
              <a:solidFill xmlns:a="http://schemas.openxmlformats.org/drawingml/2006/main">
                <a:srgbClr val="007F82"/>
              </a:solidFill>
            </c:spPr>
          </c:dPt>
          <c:cat>
            <c:strRef>
              <c:f>'Chart Data'!$A$2:$A$4</c:f>
              <c:strCache>
                <c:ptCount val="3"/>
                <c:pt idx="0">
                  <c:v>[Cost driver A]</c:v>
                </c:pt>
                <c:pt idx="1">
                  <c:v>[Cost driver B]</c:v>
                </c:pt>
                <c:pt idx="2">
                  <c:v>[Cost driver C]</c:v>
                </c:pt>
              </c:strCache>
            </c:strRef>
          </c:cat>
          <c:val>
            <c:numRef>
              <c:f>'Chart Data'!$B$2:$B$4</c:f>
              <c:numCache>
                <c:formatCode>General</c:formatCode>
                <c:ptCount val="3"/>
                <c:pt idx="0">
                  <c:v>50</c:v>
                </c:pt>
                <c:pt idx="1">
                  <c:v>30</c:v>
                </c:pt>
                <c:pt idx="2">
                  <c:v>20</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83445"/>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9E2E7"/>
            </a:solidFill>
          </a:ln>
        </c:spPr>
        <c:txPr>
          <a:bodyPr xmlns:a="http://schemas.openxmlformats.org/drawingml/2006/main" anchorCtr="1"/>
          <a:lstStyle xmlns:a="http://schemas.openxmlformats.org/drawingml/2006/main"/>
          <a:p xmlns:a="http://schemas.openxmlformats.org/drawingml/2006/main">
            <a:pPr>
              <a:defRPr sz="1350">
                <a:solidFill>
                  <a:srgbClr val="57697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E2E7"/>
            </a:solidFill>
          </a:ln>
        </c:spPr>
        <c:txPr>
          <a:bodyPr xmlns:a="http://schemas.openxmlformats.org/drawingml/2006/main" anchorCtr="1"/>
          <a:lstStyle xmlns:a="http://schemas.openxmlformats.org/drawingml/2006/main"/>
          <a:p xmlns:a="http://schemas.openxmlformats.org/drawingml/2006/main">
            <a:pPr>
              <a:defRPr sz="1350">
                <a:solidFill>
                  <a:srgbClr val="57697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Illustrative index</c:v>
          </c:tx>
          <c:spPr>
            <a:ln xmlns:a="http://schemas.openxmlformats.org/drawingml/2006/main" w="38100">
              <a:solidFill>
                <a:srgbClr val="007F82"/>
              </a:solidFill>
            </a:ln>
          </c:spPr>
          <c:marker>
            <c:symbol val="circle"/>
            <c:size val="7"/>
            <c:spPr>
              <a:solidFill xmlns:a="http://schemas.openxmlformats.org/drawingml/2006/main">
                <a:srgbClr val="007F82"/>
              </a:solidFill>
            </c:spPr>
          </c:marker>
          <c:cat>
            <c:strRef>
              <c:f>'Chart Data'!$A$2:$A$7</c:f>
              <c:strCache>
                <c:ptCount val="6"/>
                <c:pt idx="0">
                  <c:v>[P1]</c:v>
                </c:pt>
                <c:pt idx="1">
                  <c:v>[P2]</c:v>
                </c:pt>
                <c:pt idx="2">
                  <c:v>[P3]</c:v>
                </c:pt>
                <c:pt idx="3">
                  <c:v>[P4]</c:v>
                </c:pt>
                <c:pt idx="4">
                  <c:v>[P5]</c:v>
                </c:pt>
                <c:pt idx="5">
                  <c:v>[P6]</c:v>
                </c:pt>
              </c:strCache>
            </c:strRef>
          </c:cat>
          <c:val>
            <c:numRef>
              <c:f>'Chart Data'!$B$2:$B$7</c:f>
              <c:numCache>
                <c:formatCode>General</c:formatCode>
                <c:ptCount val="6"/>
                <c:pt idx="0">
                  <c:v>100</c:v>
                </c:pt>
                <c:pt idx="1">
                  <c:v>115</c:v>
                </c:pt>
                <c:pt idx="2">
                  <c:v>131</c:v>
                </c:pt>
                <c:pt idx="3">
                  <c:v>152</c:v>
                </c:pt>
                <c:pt idx="4">
                  <c:v>181</c:v>
                </c:pt>
                <c:pt idx="5">
                  <c:v>210</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E2E7"/>
            </a:solidFill>
          </a:ln>
        </c:spPr>
        <c:txPr>
          <a:bodyPr xmlns:a="http://schemas.openxmlformats.org/drawingml/2006/main" anchorCtr="1"/>
          <a:lstStyle xmlns:a="http://schemas.openxmlformats.org/drawingml/2006/main"/>
          <a:p xmlns:a="http://schemas.openxmlformats.org/drawingml/2006/main">
            <a:pPr>
              <a:defRPr sz="1350">
                <a:solidFill>
                  <a:srgbClr val="576976"/>
                </a:solidFill>
                <a:latin typeface="Arial"/>
                <a:ea typeface="Arial"/>
                <a:cs typeface="Arial"/>
              </a:defRPr>
            </a:pPr>
          </a:p>
        </c:txPr>
        <c:crossAx val="48672768"/>
      </c:catAx>
      <c:valAx>
        <c:axId val="48672768"/>
        <c:scaling>
          <c:orientation val="minMax"/>
          <c:max val="250"/>
          <c:min val="0"/>
        </c:scaling>
        <c:delete val="0"/>
        <c:axPos val="l"/>
        <c:numFmt formatCode="General"/>
        <c:majorTickMark val="none"/>
        <c:minorTickMark val="none"/>
        <c:spPr>
          <a:ln xmlns:a="http://schemas.openxmlformats.org/drawingml/2006/main" w="9525">
            <a:solidFill>
              <a:srgbClr val="D9E2E7"/>
            </a:solidFill>
          </a:ln>
        </c:spPr>
        <c:txPr>
          <a:bodyPr xmlns:a="http://schemas.openxmlformats.org/drawingml/2006/main" anchorCtr="1"/>
          <a:lstStyle xmlns:a="http://schemas.openxmlformats.org/drawingml/2006/main"/>
          <a:p xmlns:a="http://schemas.openxmlformats.org/drawingml/2006/main">
            <a:pPr>
              <a:defRPr sz="1350">
                <a:solidFill>
                  <a:srgbClr val="576976"/>
                </a:solidFill>
                <a:latin typeface="Arial"/>
                <a:ea typeface="Arial"/>
                <a:cs typeface="Arial"/>
              </a:defRPr>
            </a:pPr>
          </a:p>
        </c:txPr>
        <c:crossAx val="48650112"/>
        <c:crossBetween val="between"/>
        <c:majorUnit val="5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2B40"/>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9120EEE3-BE84-4BD4-8D58-D851F1B28376}"/>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[Company] creates [outcome]</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for [customer]</a:t>
            </a:r>
          </a:p>
        </p:txBody>
      </p:sp>
      <p:sp>
        <p:nvSpPr>
          <p:cNvPr id="2" name="[COMPANY NAME]">
            <a:extLst xmlns:a="http://schemas.openxmlformats.org/drawingml/2006/main">
              <a:ext uri="{FF2B5EF4-FFF2-40B4-BE49-F238E27FC236}">
                <a16:creationId xmlns:a16="http://schemas.microsoft.com/office/drawing/2014/main" id="{B21CBD18-E7C5-470F-BA31-33844AD69140}"/>
              </a:ext>
            </a:extLst>
          </p:cNvPr>
          <p:cNvSpPr>
            <a:spLocks xmlns:a="http://schemas.openxmlformats.org/drawingml/2006/main" noGrp="1"/>
          </p:cNvSpPr>
          <p:nvPr/>
        </p:nvSpPr>
        <p:spPr>
          <a:xfrm xmlns:a="http://schemas.openxmlformats.org/drawingml/2006/main">
            <a:off x="609600" y="54292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[COMPANY NAME]</a:t>
            </a:r>
          </a:p>
        </p:txBody>
      </p:sp>
      <p:sp>
        <p:nvSpPr>
          <p:cNvPr id="3" name="[Fundraising round or strategic proposal]">
            <a:extLst xmlns:a="http://schemas.openxmlformats.org/drawingml/2006/main">
              <a:ext uri="{FF2B5EF4-FFF2-40B4-BE49-F238E27FC236}">
                <a16:creationId xmlns:a16="http://schemas.microsoft.com/office/drawing/2014/main" id="{28B7FC41-6FB5-4DCE-8DF2-92855F116E96}"/>
              </a:ext>
            </a:extLst>
          </p:cNvPr>
          <p:cNvSpPr>
            <a:spLocks xmlns:a="http://schemas.openxmlformats.org/drawingml/2006/main" noGrp="1"/>
          </p:cNvSpPr>
          <p:nvPr/>
        </p:nvSpPr>
        <p:spPr>
          <a:xfrm xmlns:a="http://schemas.openxmlformats.org/drawingml/2006/main">
            <a:off x="609600" y="4095750"/>
            <a:ext cx="1009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BD7DE"/>
                </a:solidFill>
                <a:latin typeface="Arial"/>
                <a:ea typeface="Arial"/>
                <a:cs typeface="Arial"/>
              </a:defRPr>
            </a:pPr>
            <a:r>
              <a:rPr sz="2175" b="0">
                <a:solidFill>
                  <a:srgbClr val="BBD7DE"/>
                </a:solidFill>
                <a:latin typeface="Arial"/>
                <a:ea typeface="Arial"/>
                <a:cs typeface="Arial"/>
              </a:rPr>
              <a:t>[Fundraising round or strategic proposal]</a:t>
            </a:r>
          </a:p>
        </p:txBody>
      </p:sp>
      <p:sp>
        <p:nvSpPr>
          <p:cNvPr id="4" name="[Presenter name and role]">
            <a:extLst xmlns:a="http://schemas.openxmlformats.org/drawingml/2006/main">
              <a:ext uri="{FF2B5EF4-FFF2-40B4-BE49-F238E27FC236}">
                <a16:creationId xmlns:a16="http://schemas.microsoft.com/office/drawing/2014/main" id="{E2CFDDE0-8768-4048-A167-723B0C7BEAF7}"/>
              </a:ext>
            </a:extLst>
          </p:cNvPr>
          <p:cNvSpPr>
            <a:spLocks xmlns:a="http://schemas.openxmlformats.org/drawingml/2006/main" noGrp="1"/>
          </p:cNvSpPr>
          <p:nvPr/>
        </p:nvSpPr>
        <p:spPr>
          <a:xfrm xmlns:a="http://schemas.openxmlformats.org/drawingml/2006/main">
            <a:off x="609600" y="5324475"/>
            <a:ext cx="714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[Presenter name and role]</a:t>
            </a:r>
          </a:p>
        </p:txBody>
      </p:sp>
      <p:sp>
        <p:nvSpPr>
          <p:cNvPr id="5" name="[Audience]   [Month Year]">
            <a:extLst xmlns:a="http://schemas.openxmlformats.org/drawingml/2006/main">
              <a:ext uri="{FF2B5EF4-FFF2-40B4-BE49-F238E27FC236}">
                <a16:creationId xmlns:a16="http://schemas.microsoft.com/office/drawing/2014/main" id="{2A817E45-15F6-4A30-9495-A093092ED6CE}"/>
              </a:ext>
            </a:extLst>
          </p:cNvPr>
          <p:cNvSpPr>
            <a:spLocks xmlns:a="http://schemas.openxmlformats.org/drawingml/2006/main" noGrp="1"/>
          </p:cNvSpPr>
          <p:nvPr/>
        </p:nvSpPr>
        <p:spPr>
          <a:xfrm xmlns:a="http://schemas.openxmlformats.org/drawingml/2006/main">
            <a:off x="609600" y="5705475"/>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BBD7DE"/>
                </a:solidFill>
                <a:latin typeface="Arial"/>
                <a:ea typeface="Arial"/>
                <a:cs typeface="Arial"/>
              </a:defRPr>
            </a:pPr>
            <a:r>
              <a:rPr sz="1425" b="0">
                <a:solidFill>
                  <a:srgbClr val="BBD7DE"/>
                </a:solidFill>
                <a:latin typeface="Arial"/>
                <a:ea typeface="Arial"/>
                <a:cs typeface="Arial"/>
              </a:rPr>
              <a:t>[Audience]   [Month Year]</a:t>
            </a:r>
          </a:p>
        </p:txBody>
      </p:sp>
      <p:sp>
        <p:nvSpPr>
          <p:cNvPr id="6" name="MASTER 01&#10;CONSULTING PITCH">
            <a:extLst xmlns:a="http://schemas.openxmlformats.org/drawingml/2006/main">
              <a:ext uri="{FF2B5EF4-FFF2-40B4-BE49-F238E27FC236}">
                <a16:creationId xmlns:a16="http://schemas.microsoft.com/office/drawing/2014/main" id="{DF4D9D7F-34FA-4E02-A07F-C5C8C7F67100}"/>
              </a:ext>
            </a:extLst>
          </p:cNvPr>
          <p:cNvSpPr>
            <a:spLocks xmlns:a="http://schemas.openxmlformats.org/drawingml/2006/main" noGrp="1"/>
          </p:cNvSpPr>
          <p:nvPr/>
        </p:nvSpPr>
        <p:spPr>
          <a:xfrm xmlns:a="http://schemas.openxmlformats.org/drawingml/2006/main">
            <a:off x="9182100" y="5495925"/>
            <a:ext cx="2400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BBD7DE"/>
                </a:solidFill>
                <a:latin typeface="Arial"/>
                <a:ea typeface="Arial"/>
                <a:cs typeface="Arial"/>
              </a:defRPr>
            </a:pPr>
            <a:r>
              <a:rPr sz="1200" b="0">
                <a:solidFill>
                  <a:srgbClr val="BBD7DE"/>
                </a:solidFill>
                <a:latin typeface="Arial"/>
                <a:ea typeface="Arial"/>
                <a:cs typeface="Arial"/>
              </a:rPr>
              <a:t>MASTER 01</a:t>
            </a:r>
          </a:p>
          <a:p xmlns:a="http://schemas.openxmlformats.org/drawingml/2006/main">
            <a:pPr algn="r">
              <a:defRPr sz="1200" b="0">
                <a:solidFill>
                  <a:srgbClr val="BBD7DE"/>
                </a:solidFill>
                <a:latin typeface="Arial"/>
                <a:ea typeface="Arial"/>
                <a:cs typeface="Arial"/>
              </a:defRPr>
            </a:pPr>
            <a:r>
              <a:rPr sz="1200" b="0">
                <a:solidFill>
                  <a:srgbClr val="BBD7DE"/>
                </a:solidFill>
                <a:latin typeface="Arial"/>
                <a:ea typeface="Arial"/>
                <a:cs typeface="Arial"/>
              </a:rPr>
              <a:t>CONSULTING PITCH</a:t>
            </a:r>
          </a:p>
        </p:txBody>
      </p:sp>
    </p:spTree>
    <p:extLst>
      <p:ext uri="{BB962C8B-B14F-4D97-AF65-F5344CB8AC3E}">
        <p14:creationId xmlns:p14="http://schemas.microsoft.com/office/powerpoint/2010/main" val="1986921141"/>
      </p:ext>
    </p:extLst>
  </p:cSld>
</p:sld>
</file>

<file path=ppt/slides/slide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0" name="placeholder_1">
            <a:extLst xmlns:a="http://schemas.openxmlformats.org/drawingml/2006/main">
              <a:ext uri="{FF2B5EF4-FFF2-40B4-BE49-F238E27FC236}">
                <a16:creationId xmlns:a16="http://schemas.microsoft.com/office/drawing/2014/main" id="{8DB2C65E-73DB-48C7-87FF-2AC562755A02}"/>
              </a:ext>
            </a:extLst>
          </p:cNvPr>
          <p:cNvSpPr>
            <a:spLocks xmlns:a="http://schemas.openxmlformats.org/drawingml/2006/main" noGrp="1"/>
          </p:cNvSpPr>
          <p:nvPr>
            <p:ph type="title" idx="0"/>
          </p:nvPr>
        </p:nvSpPr>
        <p:spPr>
          <a:xfrm xmlns:a="http://schemas.openxmlformats.org/drawingml/2006/main">
            <a:off x="609600" y="695325"/>
            <a:ext cx="10972800" cy="9334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2850" b="1">
                <a:solidFill>
                  <a:schemeClr val="tx1"/>
                </a:solidFill>
                <a:latin typeface="Arial"/>
                <a:ea typeface="Arial"/>
                <a:cs typeface="Arial"/>
              </a:defRPr>
            </a:pPr>
            <a:r>
              <a:rPr sz="2850" b="1">
                <a:solidFill>
                  <a:schemeClr val="tx1"/>
                </a:solidFill>
                <a:latin typeface="Arial"/>
                <a:ea typeface="Arial"/>
                <a:cs typeface="Arial"/>
              </a:rPr>
              <a:t>[Company] can win [market] with [advantage]</a:t>
            </a:r>
          </a:p>
        </p:txBody>
      </p:sp>
      <p:sp>
        <p:nvSpPr>
          <p:cNvPr id="2" name="EXECUTIVE SUMMARY">
            <a:extLst xmlns:a="http://schemas.openxmlformats.org/drawingml/2006/main">
              <a:ext uri="{FF2B5EF4-FFF2-40B4-BE49-F238E27FC236}">
                <a16:creationId xmlns:a16="http://schemas.microsoft.com/office/drawing/2014/main" id="{31653FD3-FE9D-4B83-80B0-DDA70090A151}"/>
              </a:ext>
            </a:extLst>
          </p:cNvPr>
          <p:cNvSpPr>
            <a:spLocks xmlns:a="http://schemas.openxmlformats.org/drawingml/2006/main" noGrp="1"/>
          </p:cNvSpPr>
          <p:nvPr/>
        </p:nvSpPr>
        <p:spPr>
          <a:xfrm xmlns:a="http://schemas.openxmlformats.org/drawingml/2006/main">
            <a:off x="609600" y="323850"/>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chemeClr val="accent2"/>
                </a:solidFill>
                <a:latin typeface="Arial"/>
                <a:ea typeface="Arial"/>
                <a:cs typeface="Arial"/>
              </a:defRPr>
            </a:pPr>
            <a:r>
              <a:rPr sz="1125" b="1">
                <a:solidFill>
                  <a:schemeClr val="accent2"/>
                </a:solidFill>
                <a:latin typeface="Arial"/>
                <a:ea typeface="Arial"/>
                <a:cs typeface="Arial"/>
              </a:rPr>
              <a:t>EXECUTIVE SUMMARY</a:t>
            </a:r>
          </a:p>
        </p:txBody>
      </p:sp>
      <p:sp>
        <p:nvSpPr>
          <p:cNvPr id="3" name="[Company]   Confidential">
            <a:extLst xmlns:a="http://schemas.openxmlformats.org/drawingml/2006/main">
              <a:ext uri="{FF2B5EF4-FFF2-40B4-BE49-F238E27FC236}">
                <a16:creationId xmlns:a16="http://schemas.microsoft.com/office/drawing/2014/main" id="{B356E0BF-ED4D-4C5B-AEF7-E2C5667F1D3A}"/>
              </a:ext>
            </a:extLst>
          </p:cNvPr>
          <p:cNvSpPr>
            <a:spLocks xmlns:a="http://schemas.openxmlformats.org/drawingml/2006/main" noGrp="1"/>
          </p:cNvSpPr>
          <p:nvPr/>
        </p:nvSpPr>
        <p:spPr>
          <a:xfrm xmlns:a="http://schemas.openxmlformats.org/drawingml/2006/main">
            <a:off x="609600" y="6429375"/>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[Company]   Confidential</a:t>
            </a:r>
          </a:p>
        </p:txBody>
      </p:sp>
      <p:sp>
        <p:nvSpPr>
          <p:cNvPr id="4" name="02">
            <a:extLst xmlns:a="http://schemas.openxmlformats.org/drawingml/2006/main">
              <a:ext uri="{FF2B5EF4-FFF2-40B4-BE49-F238E27FC236}">
                <a16:creationId xmlns:a16="http://schemas.microsoft.com/office/drawing/2014/main" id="{6617C8D3-07ED-4911-953D-AC699CFAAB1C}"/>
              </a:ext>
            </a:extLst>
          </p:cNvPr>
          <p:cNvSpPr>
            <a:spLocks xmlns:a="http://schemas.openxmlformats.org/drawingml/2006/main" noGrp="1"/>
          </p:cNvSpPr>
          <p:nvPr/>
        </p:nvSpPr>
        <p:spPr>
          <a:xfrm xmlns:a="http://schemas.openxmlformats.org/drawingml/2006/main">
            <a:off x="11163300" y="6429375"/>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chemeClr val="tx2"/>
                </a:solidFill>
                <a:latin typeface="Arial"/>
                <a:ea typeface="Arial"/>
                <a:cs typeface="Arial"/>
              </a:defRPr>
            </a:pPr>
            <a:r>
              <a:rPr sz="975" b="0">
                <a:solidFill>
                  <a:schemeClr val="tx2"/>
                </a:solidFill>
                <a:latin typeface="Arial"/>
                <a:ea typeface="Arial"/>
                <a:cs typeface="Arial"/>
              </a:rPr>
              <a:t>02</a:t>
            </a:r>
          </a:p>
        </p:txBody>
      </p:sp>
      <p:sp>
        <p:nvSpPr>
          <p:cNvPr id="5" name="Source: [Document / dataset, date, page or link]">
            <a:extLst xmlns:a="http://schemas.openxmlformats.org/drawingml/2006/main">
              <a:ext uri="{FF2B5EF4-FFF2-40B4-BE49-F238E27FC236}">
                <a16:creationId xmlns:a16="http://schemas.microsoft.com/office/drawing/2014/main" id="{1ECD8C0E-B233-4023-9F7C-67366A170849}"/>
              </a:ext>
            </a:extLst>
          </p:cNvPr>
          <p:cNvSpPr>
            <a:spLocks xmlns:a="http://schemas.openxmlformats.org/drawingml/2006/main" noGrp="1"/>
          </p:cNvSpPr>
          <p:nvPr/>
        </p:nvSpPr>
        <p:spPr>
          <a:xfrm xmlns:a="http://schemas.openxmlformats.org/drawingml/2006/main">
            <a:off x="609600" y="598170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Source: [Document / dataset, date, page or link]</a:t>
            </a:r>
          </a:p>
        </p:txBody>
      </p:sp>
      <p:sp>
        <p:nvSpPr>
          <p:cNvPr id="6" name="THE PROPOSAL">
            <a:extLst xmlns:a="http://schemas.openxmlformats.org/drawingml/2006/main">
              <a:ext uri="{FF2B5EF4-FFF2-40B4-BE49-F238E27FC236}">
                <a16:creationId xmlns:a16="http://schemas.microsoft.com/office/drawing/2014/main" id="{94042927-765E-4C4A-BAFC-A66BA6AD3460}"/>
              </a:ext>
            </a:extLst>
          </p:cNvPr>
          <p:cNvSpPr>
            <a:spLocks xmlns:a="http://schemas.openxmlformats.org/drawingml/2006/main" noGrp="1"/>
          </p:cNvSpPr>
          <p:nvPr/>
        </p:nvSpPr>
        <p:spPr>
          <a:xfrm xmlns:a="http://schemas.openxmlformats.org/drawingml/2006/main">
            <a:off x="609600" y="1971675"/>
            <a:ext cx="276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chemeClr val="accent2"/>
                </a:solidFill>
                <a:latin typeface="Arial"/>
                <a:ea typeface="Arial"/>
                <a:cs typeface="Arial"/>
              </a:defRPr>
            </a:pPr>
            <a:r>
              <a:rPr sz="1275" b="1">
                <a:solidFill>
                  <a:schemeClr val="accent2"/>
                </a:solidFill>
                <a:latin typeface="Arial"/>
                <a:ea typeface="Arial"/>
                <a:cs typeface="Arial"/>
              </a:rPr>
              <a:t>THE PROPOSAL</a:t>
            </a:r>
          </a:p>
        </p:txBody>
      </p:sp>
      <p:sp>
        <p:nvSpPr>
          <p:cNvPr id="7" name="[Raise / approve amount]&#10;to reach [milestone]&#10;by [date]">
            <a:extLst xmlns:a="http://schemas.openxmlformats.org/drawingml/2006/main">
              <a:ext uri="{FF2B5EF4-FFF2-40B4-BE49-F238E27FC236}">
                <a16:creationId xmlns:a16="http://schemas.microsoft.com/office/drawing/2014/main" id="{D5528D91-B347-4A33-8467-B5EAB5246AF9}"/>
              </a:ext>
            </a:extLst>
          </p:cNvPr>
          <p:cNvSpPr>
            <a:spLocks xmlns:a="http://schemas.openxmlformats.org/drawingml/2006/main" noGrp="1"/>
          </p:cNvSpPr>
          <p:nvPr/>
        </p:nvSpPr>
        <p:spPr>
          <a:xfrm xmlns:a="http://schemas.openxmlformats.org/drawingml/2006/main">
            <a:off x="609600" y="2419350"/>
            <a:ext cx="32099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chemeClr val="tx1"/>
                </a:solidFill>
                <a:latin typeface="Arial"/>
                <a:ea typeface="Arial"/>
                <a:cs typeface="Arial"/>
              </a:defRPr>
            </a:pPr>
            <a:r>
              <a:rPr sz="2400" b="1">
                <a:solidFill>
                  <a:schemeClr val="tx1"/>
                </a:solidFill>
                <a:latin typeface="Arial"/>
                <a:ea typeface="Arial"/>
                <a:cs typeface="Arial"/>
              </a:rPr>
              <a:t>[Raise / approve amount]</a:t>
            </a:r>
          </a:p>
          <a:p xmlns:a="http://schemas.openxmlformats.org/drawingml/2006/main">
            <a:pPr>
              <a:defRPr sz="2400" b="1">
                <a:solidFill>
                  <a:schemeClr val="tx1"/>
                </a:solidFill>
                <a:latin typeface="Arial"/>
                <a:ea typeface="Arial"/>
                <a:cs typeface="Arial"/>
              </a:defRPr>
            </a:pPr>
            <a:r>
              <a:rPr sz="2400" b="1">
                <a:solidFill>
                  <a:schemeClr val="tx1"/>
                </a:solidFill>
                <a:latin typeface="Arial"/>
                <a:ea typeface="Arial"/>
                <a:cs typeface="Arial"/>
              </a:rPr>
              <a:t>to reach [milestone]</a:t>
            </a:r>
          </a:p>
          <a:p xmlns:a="http://schemas.openxmlformats.org/drawingml/2006/main">
            <a:pPr>
              <a:defRPr sz="2400" b="1">
                <a:solidFill>
                  <a:schemeClr val="tx1"/>
                </a:solidFill>
                <a:latin typeface="Arial"/>
                <a:ea typeface="Arial"/>
                <a:cs typeface="Arial"/>
              </a:defRPr>
            </a:pPr>
            <a:r>
              <a:rPr sz="2400" b="1">
                <a:solidFill>
                  <a:schemeClr val="tx1"/>
                </a:solidFill>
                <a:latin typeface="Arial"/>
                <a:ea typeface="Arial"/>
                <a:cs typeface="Arial"/>
              </a:rPr>
              <a:t>by [date]</a:t>
            </a:r>
          </a:p>
        </p:txBody>
      </p:sp>
      <p:sp>
        <p:nvSpPr>
          <p:cNvPr id="8" name="[One sentence on the expected&#10;customer or business impact]">
            <a:extLst xmlns:a="http://schemas.openxmlformats.org/drawingml/2006/main">
              <a:ext uri="{FF2B5EF4-FFF2-40B4-BE49-F238E27FC236}">
                <a16:creationId xmlns:a16="http://schemas.microsoft.com/office/drawing/2014/main" id="{D7B104F3-8EDA-4770-BEEC-EE63CF2F3528}"/>
              </a:ext>
            </a:extLst>
          </p:cNvPr>
          <p:cNvSpPr>
            <a:spLocks xmlns:a="http://schemas.openxmlformats.org/drawingml/2006/main" noGrp="1"/>
          </p:cNvSpPr>
          <p:nvPr/>
        </p:nvSpPr>
        <p:spPr>
          <a:xfrm xmlns:a="http://schemas.openxmlformats.org/drawingml/2006/main">
            <a:off x="609600" y="4400550"/>
            <a:ext cx="3209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chemeClr val="tx2"/>
                </a:solidFill>
                <a:latin typeface="Arial"/>
                <a:ea typeface="Arial"/>
                <a:cs typeface="Arial"/>
              </a:defRPr>
            </a:pPr>
            <a:r>
              <a:rPr sz="1650" b="0">
                <a:solidFill>
                  <a:schemeClr val="tx2"/>
                </a:solidFill>
                <a:latin typeface="Arial"/>
                <a:ea typeface="Arial"/>
                <a:cs typeface="Arial"/>
              </a:rPr>
              <a:t>[One sentence on the expected</a:t>
            </a:r>
          </a:p>
          <a:p xmlns:a="http://schemas.openxmlformats.org/drawingml/2006/main">
            <a:pPr>
              <a:defRPr sz="1650" b="0">
                <a:solidFill>
                  <a:schemeClr val="tx2"/>
                </a:solidFill>
                <a:latin typeface="Arial"/>
                <a:ea typeface="Arial"/>
                <a:cs typeface="Arial"/>
              </a:defRPr>
            </a:pPr>
            <a:r>
              <a:rPr sz="1650" b="0">
                <a:solidFill>
                  <a:schemeClr val="tx2"/>
                </a:solidFill>
                <a:latin typeface="Arial"/>
                <a:ea typeface="Arial"/>
                <a:cs typeface="Arial"/>
              </a:rPr>
              <a:t>customer or business impact]</a:t>
            </a:r>
          </a:p>
        </p:txBody>
      </p:sp>
      <p:sp>
        <p:nvSpPr>
          <p:cNvPr id="9" name="01">
            <a:extLst xmlns:a="http://schemas.openxmlformats.org/drawingml/2006/main">
              <a:ext uri="{FF2B5EF4-FFF2-40B4-BE49-F238E27FC236}">
                <a16:creationId xmlns:a16="http://schemas.microsoft.com/office/drawing/2014/main" id="{906D3909-BBF5-4F4E-B7C1-887AB6753CE1}"/>
              </a:ext>
            </a:extLst>
          </p:cNvPr>
          <p:cNvSpPr>
            <a:spLocks xmlns:a="http://schemas.openxmlformats.org/drawingml/2006/main" noGrp="1"/>
          </p:cNvSpPr>
          <p:nvPr/>
        </p:nvSpPr>
        <p:spPr>
          <a:xfrm xmlns:a="http://schemas.openxmlformats.org/drawingml/2006/main">
            <a:off x="4438650" y="1952625"/>
            <a:ext cx="485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chemeClr val="accent2"/>
                </a:solidFill>
                <a:latin typeface="Arial"/>
                <a:ea typeface="Arial"/>
                <a:cs typeface="Arial"/>
              </a:defRPr>
            </a:pPr>
            <a:r>
              <a:rPr sz="1950" b="1">
                <a:solidFill>
                  <a:schemeClr val="accent2"/>
                </a:solidFill>
                <a:latin typeface="Arial"/>
                <a:ea typeface="Arial"/>
                <a:cs typeface="Arial"/>
              </a:rPr>
              <a:t>01</a:t>
            </a:r>
          </a:p>
        </p:txBody>
      </p:sp>
      <p:sp>
        <p:nvSpPr>
          <p:cNvPr id="10" name="Attractive opportunity">
            <a:extLst xmlns:a="http://schemas.openxmlformats.org/drawingml/2006/main">
              <a:ext uri="{FF2B5EF4-FFF2-40B4-BE49-F238E27FC236}">
                <a16:creationId xmlns:a16="http://schemas.microsoft.com/office/drawing/2014/main" id="{BD1DD974-63B1-49BE-989B-9324701B1B82}"/>
              </a:ext>
            </a:extLst>
          </p:cNvPr>
          <p:cNvSpPr>
            <a:spLocks xmlns:a="http://schemas.openxmlformats.org/drawingml/2006/main" noGrp="1"/>
          </p:cNvSpPr>
          <p:nvPr/>
        </p:nvSpPr>
        <p:spPr>
          <a:xfrm xmlns:a="http://schemas.openxmlformats.org/drawingml/2006/main">
            <a:off x="5095875" y="1952625"/>
            <a:ext cx="6315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chemeClr val="tx1"/>
                </a:solidFill>
                <a:latin typeface="Arial"/>
                <a:ea typeface="Arial"/>
                <a:cs typeface="Arial"/>
              </a:defRPr>
            </a:pPr>
            <a:r>
              <a:rPr sz="1950" b="1">
                <a:solidFill>
                  <a:schemeClr val="tx1"/>
                </a:solidFill>
                <a:latin typeface="Arial"/>
                <a:ea typeface="Arial"/>
                <a:cs typeface="Arial"/>
              </a:rPr>
              <a:t>Attractive opportunity</a:t>
            </a:r>
          </a:p>
        </p:txBody>
      </p:sp>
      <p:sp>
        <p:nvSpPr>
          <p:cNvPr id="11" name="[Customer need and size of the reachable market]">
            <a:extLst xmlns:a="http://schemas.openxmlformats.org/drawingml/2006/main">
              <a:ext uri="{FF2B5EF4-FFF2-40B4-BE49-F238E27FC236}">
                <a16:creationId xmlns:a16="http://schemas.microsoft.com/office/drawing/2014/main" id="{3A9FB9D2-5B35-41E4-8269-AD693E2C71D9}"/>
              </a:ext>
            </a:extLst>
          </p:cNvPr>
          <p:cNvSpPr>
            <a:spLocks xmlns:a="http://schemas.openxmlformats.org/drawingml/2006/main" noGrp="1"/>
          </p:cNvSpPr>
          <p:nvPr/>
        </p:nvSpPr>
        <p:spPr>
          <a:xfrm xmlns:a="http://schemas.openxmlformats.org/drawingml/2006/main">
            <a:off x="5095875" y="2400300"/>
            <a:ext cx="6248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[Customer need and size of the reachable market]</a:t>
            </a:r>
          </a:p>
        </p:txBody>
      </p:sp>
      <p:sp>
        <p:nvSpPr>
          <p:cNvPr id="12" name="">
            <a:extLst xmlns:a="http://schemas.openxmlformats.org/drawingml/2006/main">
              <a:ext uri="{FF2B5EF4-FFF2-40B4-BE49-F238E27FC236}">
                <a16:creationId xmlns:a16="http://schemas.microsoft.com/office/drawing/2014/main" id="{97EA41FB-7413-44F2-B3D2-88CA515E8FEF}"/>
              </a:ext>
            </a:extLst>
          </p:cNvPr>
          <p:cNvSpPr>
            <a:spLocks xmlns:a="http://schemas.openxmlformats.org/drawingml/2006/main" noGrp="1"/>
          </p:cNvSpPr>
          <p:nvPr/>
        </p:nvSpPr>
        <p:spPr>
          <a:xfrm xmlns:a="http://schemas.openxmlformats.org/drawingml/2006/main">
            <a:off x="4438650" y="2990850"/>
            <a:ext cx="7143750" cy="0"/>
          </a:xfrm>
          <a:prstGeom xmlns:a="http://schemas.openxmlformats.org/drawingml/2006/main" prst="line">
            <a:avLst/>
          </a:prstGeom>
          <a:noFill xmlns:a="http://schemas.openxmlformats.org/drawingml/2006/main"/>
          <a:ln xmlns:a="http://schemas.openxmlformats.org/drawingml/2006/main" w="9525">
            <a:solidFill>
              <a:srgbClr val="D9E2E7"/>
            </a:solidFill>
          </a:ln>
        </p:spPr>
      </p:sp>
      <p:sp>
        <p:nvSpPr>
          <p:cNvPr id="13" name="02">
            <a:extLst xmlns:a="http://schemas.openxmlformats.org/drawingml/2006/main">
              <a:ext uri="{FF2B5EF4-FFF2-40B4-BE49-F238E27FC236}">
                <a16:creationId xmlns:a16="http://schemas.microsoft.com/office/drawing/2014/main" id="{92ECAF54-7C8C-4F6C-8AC6-664D3AE826E5}"/>
              </a:ext>
            </a:extLst>
          </p:cNvPr>
          <p:cNvSpPr>
            <a:spLocks xmlns:a="http://schemas.openxmlformats.org/drawingml/2006/main" noGrp="1"/>
          </p:cNvSpPr>
          <p:nvPr/>
        </p:nvSpPr>
        <p:spPr>
          <a:xfrm xmlns:a="http://schemas.openxmlformats.org/drawingml/2006/main">
            <a:off x="4438650" y="3171825"/>
            <a:ext cx="485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chemeClr val="accent2"/>
                </a:solidFill>
                <a:latin typeface="Arial"/>
                <a:ea typeface="Arial"/>
                <a:cs typeface="Arial"/>
              </a:defRPr>
            </a:pPr>
            <a:r>
              <a:rPr sz="1950" b="1">
                <a:solidFill>
                  <a:schemeClr val="accent2"/>
                </a:solidFill>
                <a:latin typeface="Arial"/>
                <a:ea typeface="Arial"/>
                <a:cs typeface="Arial"/>
              </a:rPr>
              <a:t>02</a:t>
            </a:r>
          </a:p>
        </p:txBody>
      </p:sp>
      <p:sp>
        <p:nvSpPr>
          <p:cNvPr id="14" name="Evidence that we can win">
            <a:extLst xmlns:a="http://schemas.openxmlformats.org/drawingml/2006/main">
              <a:ext uri="{FF2B5EF4-FFF2-40B4-BE49-F238E27FC236}">
                <a16:creationId xmlns:a16="http://schemas.microsoft.com/office/drawing/2014/main" id="{43F5D96E-0147-4328-B27E-2D28290A2BD1}"/>
              </a:ext>
            </a:extLst>
          </p:cNvPr>
          <p:cNvSpPr>
            <a:spLocks xmlns:a="http://schemas.openxmlformats.org/drawingml/2006/main" noGrp="1"/>
          </p:cNvSpPr>
          <p:nvPr/>
        </p:nvSpPr>
        <p:spPr>
          <a:xfrm xmlns:a="http://schemas.openxmlformats.org/drawingml/2006/main">
            <a:off x="5095875" y="3171825"/>
            <a:ext cx="6315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chemeClr val="tx1"/>
                </a:solidFill>
                <a:latin typeface="Arial"/>
                <a:ea typeface="Arial"/>
                <a:cs typeface="Arial"/>
              </a:defRPr>
            </a:pPr>
            <a:r>
              <a:rPr sz="1950" b="1">
                <a:solidFill>
                  <a:schemeClr val="tx1"/>
                </a:solidFill>
                <a:latin typeface="Arial"/>
                <a:ea typeface="Arial"/>
                <a:cs typeface="Arial"/>
              </a:rPr>
              <a:t>Evidence that we can win</a:t>
            </a:r>
          </a:p>
        </p:txBody>
      </p:sp>
      <p:sp>
        <p:nvSpPr>
          <p:cNvPr id="15" name="[Product advantage supported by traction or proof]">
            <a:extLst xmlns:a="http://schemas.openxmlformats.org/drawingml/2006/main">
              <a:ext uri="{FF2B5EF4-FFF2-40B4-BE49-F238E27FC236}">
                <a16:creationId xmlns:a16="http://schemas.microsoft.com/office/drawing/2014/main" id="{C8698210-0E5D-485F-9AFC-4E217A382C75}"/>
              </a:ext>
            </a:extLst>
          </p:cNvPr>
          <p:cNvSpPr>
            <a:spLocks xmlns:a="http://schemas.openxmlformats.org/drawingml/2006/main" noGrp="1"/>
          </p:cNvSpPr>
          <p:nvPr/>
        </p:nvSpPr>
        <p:spPr>
          <a:xfrm xmlns:a="http://schemas.openxmlformats.org/drawingml/2006/main">
            <a:off x="5095875" y="3619500"/>
            <a:ext cx="6248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[Product advantage supported by traction or proof]</a:t>
            </a:r>
          </a:p>
        </p:txBody>
      </p:sp>
      <p:sp>
        <p:nvSpPr>
          <p:cNvPr id="16" name="">
            <a:extLst xmlns:a="http://schemas.openxmlformats.org/drawingml/2006/main">
              <a:ext uri="{FF2B5EF4-FFF2-40B4-BE49-F238E27FC236}">
                <a16:creationId xmlns:a16="http://schemas.microsoft.com/office/drawing/2014/main" id="{4FEE2556-FD9E-41F8-8ED4-5586A46B6A36}"/>
              </a:ext>
            </a:extLst>
          </p:cNvPr>
          <p:cNvSpPr>
            <a:spLocks xmlns:a="http://schemas.openxmlformats.org/drawingml/2006/main" noGrp="1"/>
          </p:cNvSpPr>
          <p:nvPr/>
        </p:nvSpPr>
        <p:spPr>
          <a:xfrm xmlns:a="http://schemas.openxmlformats.org/drawingml/2006/main">
            <a:off x="4438650" y="4210050"/>
            <a:ext cx="7143750" cy="0"/>
          </a:xfrm>
          <a:prstGeom xmlns:a="http://schemas.openxmlformats.org/drawingml/2006/main" prst="line">
            <a:avLst/>
          </a:prstGeom>
          <a:noFill xmlns:a="http://schemas.openxmlformats.org/drawingml/2006/main"/>
          <a:ln xmlns:a="http://schemas.openxmlformats.org/drawingml/2006/main" w="9525">
            <a:solidFill>
              <a:srgbClr val="D9E2E7"/>
            </a:solidFill>
          </a:ln>
        </p:spPr>
      </p:sp>
      <p:sp>
        <p:nvSpPr>
          <p:cNvPr id="17" name="03">
            <a:extLst xmlns:a="http://schemas.openxmlformats.org/drawingml/2006/main">
              <a:ext uri="{FF2B5EF4-FFF2-40B4-BE49-F238E27FC236}">
                <a16:creationId xmlns:a16="http://schemas.microsoft.com/office/drawing/2014/main" id="{34663195-211C-4318-9A54-21FAA73F08AA}"/>
              </a:ext>
            </a:extLst>
          </p:cNvPr>
          <p:cNvSpPr>
            <a:spLocks xmlns:a="http://schemas.openxmlformats.org/drawingml/2006/main" noGrp="1"/>
          </p:cNvSpPr>
          <p:nvPr/>
        </p:nvSpPr>
        <p:spPr>
          <a:xfrm xmlns:a="http://schemas.openxmlformats.org/drawingml/2006/main">
            <a:off x="4438650" y="4391025"/>
            <a:ext cx="485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chemeClr val="accent2"/>
                </a:solidFill>
                <a:latin typeface="Arial"/>
                <a:ea typeface="Arial"/>
                <a:cs typeface="Arial"/>
              </a:defRPr>
            </a:pPr>
            <a:r>
              <a:rPr sz="1950" b="1">
                <a:solidFill>
                  <a:schemeClr val="accent2"/>
                </a:solidFill>
                <a:latin typeface="Arial"/>
                <a:ea typeface="Arial"/>
                <a:cs typeface="Arial"/>
              </a:rPr>
              <a:t>03</a:t>
            </a:r>
          </a:p>
        </p:txBody>
      </p:sp>
      <p:sp>
        <p:nvSpPr>
          <p:cNvPr id="18" name="A credible execution plan">
            <a:extLst xmlns:a="http://schemas.openxmlformats.org/drawingml/2006/main">
              <a:ext uri="{FF2B5EF4-FFF2-40B4-BE49-F238E27FC236}">
                <a16:creationId xmlns:a16="http://schemas.microsoft.com/office/drawing/2014/main" id="{42A16870-EA49-4CEC-AF17-7A57F2D933A2}"/>
              </a:ext>
            </a:extLst>
          </p:cNvPr>
          <p:cNvSpPr>
            <a:spLocks xmlns:a="http://schemas.openxmlformats.org/drawingml/2006/main" noGrp="1"/>
          </p:cNvSpPr>
          <p:nvPr/>
        </p:nvSpPr>
        <p:spPr>
          <a:xfrm xmlns:a="http://schemas.openxmlformats.org/drawingml/2006/main">
            <a:off x="5095875" y="4391025"/>
            <a:ext cx="6315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chemeClr val="tx1"/>
                </a:solidFill>
                <a:latin typeface="Arial"/>
                <a:ea typeface="Arial"/>
                <a:cs typeface="Arial"/>
              </a:defRPr>
            </a:pPr>
            <a:r>
              <a:rPr sz="1950" b="1">
                <a:solidFill>
                  <a:schemeClr val="tx1"/>
                </a:solidFill>
                <a:latin typeface="Arial"/>
                <a:ea typeface="Arial"/>
                <a:cs typeface="Arial"/>
              </a:rPr>
              <a:t>A credible execution plan</a:t>
            </a:r>
          </a:p>
        </p:txBody>
      </p:sp>
      <p:sp>
        <p:nvSpPr>
          <p:cNvPr id="19" name="[Economics, team capability and next milestone]">
            <a:extLst xmlns:a="http://schemas.openxmlformats.org/drawingml/2006/main">
              <a:ext uri="{FF2B5EF4-FFF2-40B4-BE49-F238E27FC236}">
                <a16:creationId xmlns:a16="http://schemas.microsoft.com/office/drawing/2014/main" id="{667FC1B7-F2D8-426A-AA28-C7C378811526}"/>
              </a:ext>
            </a:extLst>
          </p:cNvPr>
          <p:cNvSpPr>
            <a:spLocks xmlns:a="http://schemas.openxmlformats.org/drawingml/2006/main" noGrp="1"/>
          </p:cNvSpPr>
          <p:nvPr/>
        </p:nvSpPr>
        <p:spPr>
          <a:xfrm xmlns:a="http://schemas.openxmlformats.org/drawingml/2006/main">
            <a:off x="5095875" y="4838700"/>
            <a:ext cx="6248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[Economics, team capability and next milestone]</a:t>
            </a:r>
          </a:p>
        </p:txBody>
      </p:sp>
    </p:spTree>
    <p:extLst>
      <p:ext uri="{BB962C8B-B14F-4D97-AF65-F5344CB8AC3E}">
        <p14:creationId xmlns:p14="http://schemas.microsoft.com/office/powerpoint/2010/main" val="1325018060"/>
      </p:ext>
    </p:extLst>
  </p:cSld>
</p:sld>
</file>

<file path=ppt/slides/slide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2" name="placeholder_1">
            <a:extLst xmlns:a="http://schemas.openxmlformats.org/drawingml/2006/main">
              <a:ext uri="{FF2B5EF4-FFF2-40B4-BE49-F238E27FC236}">
                <a16:creationId xmlns:a16="http://schemas.microsoft.com/office/drawing/2014/main" id="{8B178E00-143C-4706-B22B-32F57F0F185D}"/>
              </a:ext>
            </a:extLst>
          </p:cNvPr>
          <p:cNvSpPr>
            <a:spLocks xmlns:a="http://schemas.openxmlformats.org/drawingml/2006/main" noGrp="1"/>
          </p:cNvSpPr>
          <p:nvPr>
            <p:ph type="title" idx="0"/>
          </p:nvPr>
        </p:nvSpPr>
        <p:spPr>
          <a:xfrm xmlns:a="http://schemas.openxmlformats.org/drawingml/2006/main">
            <a:off x="609600" y="695325"/>
            <a:ext cx="10972800" cy="9334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2850" b="1">
                <a:solidFill>
                  <a:schemeClr val="tx1"/>
                </a:solidFill>
                <a:latin typeface="Arial"/>
                <a:ea typeface="Arial"/>
                <a:cs typeface="Arial"/>
              </a:defRPr>
            </a:pPr>
            <a:r>
              <a:rPr sz="2850" b="1">
                <a:solidFill>
                  <a:schemeClr val="tx1"/>
                </a:solidFill>
                <a:latin typeface="Arial"/>
                <a:ea typeface="Arial"/>
                <a:cs typeface="Arial"/>
              </a:rPr>
              <a:t>[Initial segment] represents a [currency X] opportunity</a:t>
            </a:r>
          </a:p>
        </p:txBody>
      </p:sp>
      <p:sp>
        <p:nvSpPr>
          <p:cNvPr id="2" name="MARKET OPPORTUNITY">
            <a:extLst xmlns:a="http://schemas.openxmlformats.org/drawingml/2006/main">
              <a:ext uri="{FF2B5EF4-FFF2-40B4-BE49-F238E27FC236}">
                <a16:creationId xmlns:a16="http://schemas.microsoft.com/office/drawing/2014/main" id="{43851B6A-5ED4-4E9C-B1BA-A28B497ACD76}"/>
              </a:ext>
            </a:extLst>
          </p:cNvPr>
          <p:cNvSpPr>
            <a:spLocks xmlns:a="http://schemas.openxmlformats.org/drawingml/2006/main" noGrp="1"/>
          </p:cNvSpPr>
          <p:nvPr/>
        </p:nvSpPr>
        <p:spPr>
          <a:xfrm xmlns:a="http://schemas.openxmlformats.org/drawingml/2006/main">
            <a:off x="609600" y="323850"/>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chemeClr val="accent2"/>
                </a:solidFill>
                <a:latin typeface="Arial"/>
                <a:ea typeface="Arial"/>
                <a:cs typeface="Arial"/>
              </a:defRPr>
            </a:pPr>
            <a:r>
              <a:rPr sz="1125" b="1">
                <a:solidFill>
                  <a:schemeClr val="accent2"/>
                </a:solidFill>
                <a:latin typeface="Arial"/>
                <a:ea typeface="Arial"/>
                <a:cs typeface="Arial"/>
              </a:rPr>
              <a:t>MARKET OPPORTUNITY</a:t>
            </a:r>
          </a:p>
        </p:txBody>
      </p:sp>
      <p:sp>
        <p:nvSpPr>
          <p:cNvPr id="3" name="[Company]   Confidential">
            <a:extLst xmlns:a="http://schemas.openxmlformats.org/drawingml/2006/main">
              <a:ext uri="{FF2B5EF4-FFF2-40B4-BE49-F238E27FC236}">
                <a16:creationId xmlns:a16="http://schemas.microsoft.com/office/drawing/2014/main" id="{19859B6C-1C94-42C6-8071-5BB04CE91C64}"/>
              </a:ext>
            </a:extLst>
          </p:cNvPr>
          <p:cNvSpPr>
            <a:spLocks xmlns:a="http://schemas.openxmlformats.org/drawingml/2006/main" noGrp="1"/>
          </p:cNvSpPr>
          <p:nvPr/>
        </p:nvSpPr>
        <p:spPr>
          <a:xfrm xmlns:a="http://schemas.openxmlformats.org/drawingml/2006/main">
            <a:off x="609600" y="6429375"/>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[Company]   Confidential</a:t>
            </a:r>
          </a:p>
        </p:txBody>
      </p:sp>
      <p:sp>
        <p:nvSpPr>
          <p:cNvPr id="4" name="03">
            <a:extLst xmlns:a="http://schemas.openxmlformats.org/drawingml/2006/main">
              <a:ext uri="{FF2B5EF4-FFF2-40B4-BE49-F238E27FC236}">
                <a16:creationId xmlns:a16="http://schemas.microsoft.com/office/drawing/2014/main" id="{096E3E15-A47A-443E-8BF8-6C5DB8849AB4}"/>
              </a:ext>
            </a:extLst>
          </p:cNvPr>
          <p:cNvSpPr>
            <a:spLocks xmlns:a="http://schemas.openxmlformats.org/drawingml/2006/main" noGrp="1"/>
          </p:cNvSpPr>
          <p:nvPr/>
        </p:nvSpPr>
        <p:spPr>
          <a:xfrm xmlns:a="http://schemas.openxmlformats.org/drawingml/2006/main">
            <a:off x="11163300" y="6429375"/>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chemeClr val="tx2"/>
                </a:solidFill>
                <a:latin typeface="Arial"/>
                <a:ea typeface="Arial"/>
                <a:cs typeface="Arial"/>
              </a:defRPr>
            </a:pPr>
            <a:r>
              <a:rPr sz="975" b="0">
                <a:solidFill>
                  <a:schemeClr val="tx2"/>
                </a:solidFill>
                <a:latin typeface="Arial"/>
                <a:ea typeface="Arial"/>
                <a:cs typeface="Arial"/>
              </a:rPr>
              <a:t>03</a:t>
            </a:r>
          </a:p>
        </p:txBody>
      </p:sp>
      <p:sp>
        <p:nvSpPr>
          <p:cNvPr id="5" name="Source: [Document / dataset, date, page or link]">
            <a:extLst xmlns:a="http://schemas.openxmlformats.org/drawingml/2006/main">
              <a:ext uri="{FF2B5EF4-FFF2-40B4-BE49-F238E27FC236}">
                <a16:creationId xmlns:a16="http://schemas.microsoft.com/office/drawing/2014/main" id="{B1528050-B775-4043-B0B6-44628152C4D4}"/>
              </a:ext>
            </a:extLst>
          </p:cNvPr>
          <p:cNvSpPr>
            <a:spLocks xmlns:a="http://schemas.openxmlformats.org/drawingml/2006/main" noGrp="1"/>
          </p:cNvSpPr>
          <p:nvPr/>
        </p:nvSpPr>
        <p:spPr>
          <a:xfrm xmlns:a="http://schemas.openxmlformats.org/drawingml/2006/main">
            <a:off x="609600" y="598170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Source: [Document / dataset, date, page or link]</a:t>
            </a:r>
          </a:p>
        </p:txBody>
      </p:sp>
      <p:sp>
        <p:nvSpPr>
          <p:cNvPr id="6" name="A focused starting market">
            <a:extLst xmlns:a="http://schemas.openxmlformats.org/drawingml/2006/main">
              <a:ext uri="{FF2B5EF4-FFF2-40B4-BE49-F238E27FC236}">
                <a16:creationId xmlns:a16="http://schemas.microsoft.com/office/drawing/2014/main" id="{5DB7F723-551B-4FE5-AF4E-1847DC467C17}"/>
              </a:ext>
            </a:extLst>
          </p:cNvPr>
          <p:cNvSpPr>
            <a:spLocks xmlns:a="http://schemas.openxmlformats.org/drawingml/2006/main" noGrp="1"/>
          </p:cNvSpPr>
          <p:nvPr/>
        </p:nvSpPr>
        <p:spPr>
          <a:xfrm xmlns:a="http://schemas.openxmlformats.org/drawingml/2006/main">
            <a:off x="609600" y="1933575"/>
            <a:ext cx="676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chemeClr val="tx1"/>
                </a:solidFill>
                <a:latin typeface="Arial"/>
                <a:ea typeface="Arial"/>
                <a:cs typeface="Arial"/>
              </a:defRPr>
            </a:pPr>
            <a:r>
              <a:rPr sz="2025" b="1">
                <a:solidFill>
                  <a:schemeClr val="tx1"/>
                </a:solidFill>
                <a:latin typeface="Arial"/>
                <a:ea typeface="Arial"/>
                <a:cs typeface="Arial"/>
              </a:rPr>
              <a:t>A focused starting market</a:t>
            </a:r>
          </a:p>
        </p:txBody>
      </p:sp>
      <p:graphicFrame>
        <p:nvGraphicFramePr>
          <p:cNvPr id="18" name=""/>
          <p:cNvGraphicFramePr/>
          <p:nvPr/>
        </p:nvGraphicFramePr>
        <p:xfrm>
          <a:off xmlns:a="http://schemas.openxmlformats.org/drawingml/2006/main" x="609600" y="2524125"/>
          <a:ext xmlns:a="http://schemas.openxmlformats.org/drawingml/2006/main" cx="7239000" cy="2647950"/>
        </p:xfrm>
        <a:graphic xmlns:a="http://schemas.openxmlformats.org/drawingml/2006/main">
          <a:graphicData uri="http://schemas.openxmlformats.org/drawingml/2006/table">
            <a:tbl>
              <a:tblPr/>
              <a:tblGrid>
                <a:gridCol w="2619375"/>
                <a:gridCol w="1571625"/>
                <a:gridCol w="3048000"/>
              </a:tblGrid>
              <a:tr h="661988">
                <a:tc>
                  <a:txBody>
                    <a:bodyPr/>
                    <a:lstStyle/>
                    <a:p>
                      <a:r>
                        <a:rPr sz="1500" b="1">
                          <a:solidFill>
                            <a:srgbClr val="FFFFFF"/>
                          </a:solidFill>
                          <a:latin typeface="Arial"/>
                          <a:ea typeface="Arial"/>
                          <a:cs typeface="Arial"/>
                        </a:rPr>
                        <a:t>Market scope</a:t>
                      </a:r>
                    </a:p>
                  </a:txBody>
                  <a:tcPr marL="133350" marR="133350" marT="114300" marB="95250" anchor="ctr">
                    <a:solidFill>
                      <a:srgbClr val="092B40"/>
                    </a:solidFill>
                  </a:tcPr>
                </a:tc>
                <a:tc>
                  <a:txBody>
                    <a:bodyPr/>
                    <a:lstStyle/>
                    <a:p>
                      <a:r>
                        <a:rPr sz="1500" b="1">
                          <a:solidFill>
                            <a:srgbClr val="FFFFFF"/>
                          </a:solidFill>
                          <a:latin typeface="Arial"/>
                          <a:ea typeface="Arial"/>
                          <a:cs typeface="Arial"/>
                        </a:rPr>
                        <a:t>Annual value</a:t>
                      </a:r>
                    </a:p>
                  </a:txBody>
                  <a:tcPr marL="133350" marR="133350" marT="114300" marB="95250" anchor="ctr">
                    <a:solidFill>
                      <a:srgbClr val="092B40"/>
                    </a:solidFill>
                  </a:tcPr>
                </a:tc>
                <a:tc>
                  <a:txBody>
                    <a:bodyPr/>
                    <a:lstStyle/>
                    <a:p>
                      <a:r>
                        <a:rPr sz="1500" b="1">
                          <a:solidFill>
                            <a:srgbClr val="FFFFFF"/>
                          </a:solidFill>
                          <a:latin typeface="Arial"/>
                          <a:ea typeface="Arial"/>
                          <a:cs typeface="Arial"/>
                        </a:rPr>
                        <a:t>Calculation</a:t>
                      </a:r>
                    </a:p>
                  </a:txBody>
                  <a:tcPr marL="133350" marR="133350" marT="114300" marB="95250" anchor="ctr">
                    <a:solidFill>
                      <a:srgbClr val="092B40"/>
                    </a:solidFill>
                  </a:tcPr>
                </a:tc>
              </a:tr>
              <a:tr h="661988">
                <a:tc>
                  <a:txBody>
                    <a:bodyPr/>
                    <a:lstStyle/>
                    <a:p>
                      <a:r>
                        <a:rPr sz="1500" b="1">
                          <a:solidFill>
                            <a:srgbClr val="183445"/>
                          </a:solidFill>
                          <a:latin typeface="Arial"/>
                          <a:ea typeface="Arial"/>
                          <a:cs typeface="Arial"/>
                        </a:rPr>
                        <a:t>Total market</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[Currency X]</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[All buyers × annual spend]</a:t>
                      </a:r>
                    </a:p>
                  </a:txBody>
                  <a:tcPr marL="133350" marR="133350" marT="114300" marB="95250" anchor="ctr">
                    <a:solidFill>
                      <a:srgbClr val="FFFFFF"/>
                    </a:solidFill>
                  </a:tcPr>
                </a:tc>
              </a:tr>
              <a:tr h="661988">
                <a:tc>
                  <a:txBody>
                    <a:bodyPr/>
                    <a:lstStyle/>
                    <a:p>
                      <a:r>
                        <a:rPr sz="1500" b="1">
                          <a:solidFill>
                            <a:srgbClr val="183445"/>
                          </a:solidFill>
                          <a:latin typeface="Arial"/>
                          <a:ea typeface="Arial"/>
                          <a:cs typeface="Arial"/>
                        </a:rPr>
                        <a:t>Serviceable market</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[Currency X]</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[Eligible buyers × annual spend]</a:t>
                      </a:r>
                    </a:p>
                  </a:txBody>
                  <a:tcPr marL="133350" marR="133350" marT="114300" marB="95250" anchor="ctr">
                    <a:solidFill>
                      <a:srgbClr val="FFFFFF"/>
                    </a:solidFill>
                  </a:tcPr>
                </a:tc>
              </a:tr>
              <a:tr h="661988">
                <a:tc>
                  <a:txBody>
                    <a:bodyPr/>
                    <a:lstStyle/>
                    <a:p>
                      <a:r>
                        <a:rPr sz="1500" b="1">
                          <a:solidFill>
                            <a:srgbClr val="183445"/>
                          </a:solidFill>
                          <a:latin typeface="Arial"/>
                          <a:ea typeface="Arial"/>
                          <a:cs typeface="Arial"/>
                        </a:rPr>
                        <a:t>Initial obtainable market</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[Currency X]</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[Reachable buyers × win rate × spend]</a:t>
                      </a:r>
                    </a:p>
                  </a:txBody>
                  <a:tcPr marL="133350" marR="133350" marT="114300" marB="95250" anchor="ctr">
                    <a:solidFill>
                      <a:srgbClr val="FFFFFF"/>
                    </a:solidFill>
                  </a:tcPr>
                </a:tc>
              </a:tr>
            </a:tbl>
          </a:graphicData>
        </a:graphic>
      </p:graphicFrame>
      <p:sp>
        <p:nvSpPr>
          <p:cNvPr id="8" name="[X%]">
            <a:extLst xmlns:a="http://schemas.openxmlformats.org/drawingml/2006/main">
              <a:ext uri="{FF2B5EF4-FFF2-40B4-BE49-F238E27FC236}">
                <a16:creationId xmlns:a16="http://schemas.microsoft.com/office/drawing/2014/main" id="{734C8AC5-5020-4329-90F1-740DE911D0CE}"/>
              </a:ext>
            </a:extLst>
          </p:cNvPr>
          <p:cNvSpPr>
            <a:spLocks xmlns:a="http://schemas.openxmlformats.org/drawingml/2006/main" noGrp="1"/>
          </p:cNvSpPr>
          <p:nvPr/>
        </p:nvSpPr>
        <p:spPr>
          <a:xfrm xmlns:a="http://schemas.openxmlformats.org/drawingml/2006/main">
            <a:off x="8562975" y="2162175"/>
            <a:ext cx="2914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chemeClr val="accent2"/>
                </a:solidFill>
                <a:latin typeface="Arial"/>
                <a:ea typeface="Arial"/>
                <a:cs typeface="Arial"/>
              </a:defRPr>
            </a:pPr>
            <a:r>
              <a:rPr sz="4050" b="1">
                <a:solidFill>
                  <a:schemeClr val="accent2"/>
                </a:solidFill>
                <a:latin typeface="Arial"/>
                <a:ea typeface="Arial"/>
                <a:cs typeface="Arial"/>
              </a:rPr>
              <a:t>[X%]</a:t>
            </a:r>
          </a:p>
        </p:txBody>
      </p:sp>
      <p:sp>
        <p:nvSpPr>
          <p:cNvPr id="9" name="[Growth rate, period and geography]">
            <a:extLst xmlns:a="http://schemas.openxmlformats.org/drawingml/2006/main">
              <a:ext uri="{FF2B5EF4-FFF2-40B4-BE49-F238E27FC236}">
                <a16:creationId xmlns:a16="http://schemas.microsoft.com/office/drawing/2014/main" id="{8DAE1822-DE76-4D94-9AE8-C54C70D3A438}"/>
              </a:ext>
            </a:extLst>
          </p:cNvPr>
          <p:cNvSpPr>
            <a:spLocks xmlns:a="http://schemas.openxmlformats.org/drawingml/2006/main" noGrp="1"/>
          </p:cNvSpPr>
          <p:nvPr/>
        </p:nvSpPr>
        <p:spPr>
          <a:xfrm xmlns:a="http://schemas.openxmlformats.org/drawingml/2006/main">
            <a:off x="8562975" y="2943225"/>
            <a:ext cx="2914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[Growth rate, period and geography]</a:t>
            </a:r>
          </a:p>
        </p:txBody>
      </p:sp>
      <p:sp>
        <p:nvSpPr>
          <p:cNvPr id="10" name="Why this segment now">
            <a:extLst xmlns:a="http://schemas.openxmlformats.org/drawingml/2006/main">
              <a:ext uri="{FF2B5EF4-FFF2-40B4-BE49-F238E27FC236}">
                <a16:creationId xmlns:a16="http://schemas.microsoft.com/office/drawing/2014/main" id="{97FD383D-E223-4977-AC41-F6B41D20DEF1}"/>
              </a:ext>
            </a:extLst>
          </p:cNvPr>
          <p:cNvSpPr>
            <a:spLocks xmlns:a="http://schemas.openxmlformats.org/drawingml/2006/main" noGrp="1"/>
          </p:cNvSpPr>
          <p:nvPr/>
        </p:nvSpPr>
        <p:spPr>
          <a:xfrm xmlns:a="http://schemas.openxmlformats.org/drawingml/2006/main">
            <a:off x="8562975" y="4048125"/>
            <a:ext cx="291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chemeClr val="tx1"/>
                </a:solidFill>
                <a:latin typeface="Arial"/>
                <a:ea typeface="Arial"/>
                <a:cs typeface="Arial"/>
              </a:defRPr>
            </a:pPr>
            <a:r>
              <a:rPr sz="1800" b="1">
                <a:solidFill>
                  <a:schemeClr val="tx1"/>
                </a:solidFill>
                <a:latin typeface="Arial"/>
                <a:ea typeface="Arial"/>
                <a:cs typeface="Arial"/>
              </a:rPr>
              <a:t>Why this segment now</a:t>
            </a:r>
          </a:p>
        </p:txBody>
      </p:sp>
      <p:sp>
        <p:nvSpPr>
          <p:cNvPr id="11" name="[Specific change in demand,&#10;cost or regulation]">
            <a:extLst xmlns:a="http://schemas.openxmlformats.org/drawingml/2006/main">
              <a:ext uri="{FF2B5EF4-FFF2-40B4-BE49-F238E27FC236}">
                <a16:creationId xmlns:a16="http://schemas.microsoft.com/office/drawing/2014/main" id="{8928A2E2-EA55-458A-ACD4-BFDADEED1D1E}"/>
              </a:ext>
            </a:extLst>
          </p:cNvPr>
          <p:cNvSpPr>
            <a:spLocks xmlns:a="http://schemas.openxmlformats.org/drawingml/2006/main" noGrp="1"/>
          </p:cNvSpPr>
          <p:nvPr/>
        </p:nvSpPr>
        <p:spPr>
          <a:xfrm xmlns:a="http://schemas.openxmlformats.org/drawingml/2006/main">
            <a:off x="8562975" y="4514850"/>
            <a:ext cx="2914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[Specific change in demand,</a:t>
            </a:r>
          </a:p>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cost or regulation]</a:t>
            </a:r>
          </a:p>
        </p:txBody>
      </p:sp>
    </p:spTree>
    <p:extLst>
      <p:ext uri="{BB962C8B-B14F-4D97-AF65-F5344CB8AC3E}">
        <p14:creationId xmlns:p14="http://schemas.microsoft.com/office/powerpoint/2010/main" val="976843780"/>
      </p:ext>
    </p:extLst>
  </p:cSld>
</p:sld>
</file>

<file path=ppt/slides/slide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3" name="placeholder_1">
            <a:extLst xmlns:a="http://schemas.openxmlformats.org/drawingml/2006/main">
              <a:ext uri="{FF2B5EF4-FFF2-40B4-BE49-F238E27FC236}">
                <a16:creationId xmlns:a16="http://schemas.microsoft.com/office/drawing/2014/main" id="{39DB98DF-22FD-4CA4-9FB4-66F7904694EB}"/>
              </a:ext>
            </a:extLst>
          </p:cNvPr>
          <p:cNvSpPr>
            <a:spLocks xmlns:a="http://schemas.openxmlformats.org/drawingml/2006/main" noGrp="1"/>
          </p:cNvSpPr>
          <p:nvPr>
            <p:ph type="title" idx="0"/>
          </p:nvPr>
        </p:nvSpPr>
        <p:spPr>
          <a:xfrm xmlns:a="http://schemas.openxmlformats.org/drawingml/2006/main">
            <a:off x="609600" y="695325"/>
            <a:ext cx="10972800" cy="9334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2850" b="1">
                <a:solidFill>
                  <a:schemeClr val="tx1"/>
                </a:solidFill>
                <a:latin typeface="Arial"/>
                <a:ea typeface="Arial"/>
                <a:cs typeface="Arial"/>
              </a:defRPr>
            </a:pPr>
            <a:r>
              <a:rPr sz="2850" b="1">
                <a:solidFill>
                  <a:schemeClr val="tx1"/>
                </a:solidFill>
                <a:latin typeface="Arial"/>
                <a:ea typeface="Arial"/>
                <a:cs typeface="Arial"/>
              </a:rPr>
              <a:t>[Pain point] costs [customer] [amount or time] each year</a:t>
            </a:r>
          </a:p>
        </p:txBody>
      </p:sp>
      <p:sp>
        <p:nvSpPr>
          <p:cNvPr id="2" name="CUSTOMER PROBLEM">
            <a:extLst xmlns:a="http://schemas.openxmlformats.org/drawingml/2006/main">
              <a:ext uri="{FF2B5EF4-FFF2-40B4-BE49-F238E27FC236}">
                <a16:creationId xmlns:a16="http://schemas.microsoft.com/office/drawing/2014/main" id="{7B8FB9C6-57B7-4092-85D2-D2242A987041}"/>
              </a:ext>
            </a:extLst>
          </p:cNvPr>
          <p:cNvSpPr>
            <a:spLocks xmlns:a="http://schemas.openxmlformats.org/drawingml/2006/main" noGrp="1"/>
          </p:cNvSpPr>
          <p:nvPr/>
        </p:nvSpPr>
        <p:spPr>
          <a:xfrm xmlns:a="http://schemas.openxmlformats.org/drawingml/2006/main">
            <a:off x="609600" y="323850"/>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chemeClr val="accent2"/>
                </a:solidFill>
                <a:latin typeface="Arial"/>
                <a:ea typeface="Arial"/>
                <a:cs typeface="Arial"/>
              </a:defRPr>
            </a:pPr>
            <a:r>
              <a:rPr sz="1125" b="1">
                <a:solidFill>
                  <a:schemeClr val="accent2"/>
                </a:solidFill>
                <a:latin typeface="Arial"/>
                <a:ea typeface="Arial"/>
                <a:cs typeface="Arial"/>
              </a:rPr>
              <a:t>CUSTOMER PROBLEM</a:t>
            </a:r>
          </a:p>
        </p:txBody>
      </p:sp>
      <p:sp>
        <p:nvSpPr>
          <p:cNvPr id="3" name="[Company]   Confidential">
            <a:extLst xmlns:a="http://schemas.openxmlformats.org/drawingml/2006/main">
              <a:ext uri="{FF2B5EF4-FFF2-40B4-BE49-F238E27FC236}">
                <a16:creationId xmlns:a16="http://schemas.microsoft.com/office/drawing/2014/main" id="{6478700A-8437-402E-B3FB-C13ECCF062ED}"/>
              </a:ext>
            </a:extLst>
          </p:cNvPr>
          <p:cNvSpPr>
            <a:spLocks xmlns:a="http://schemas.openxmlformats.org/drawingml/2006/main" noGrp="1"/>
          </p:cNvSpPr>
          <p:nvPr/>
        </p:nvSpPr>
        <p:spPr>
          <a:xfrm xmlns:a="http://schemas.openxmlformats.org/drawingml/2006/main">
            <a:off x="609600" y="6429375"/>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[Company]   Confidential</a:t>
            </a:r>
          </a:p>
        </p:txBody>
      </p:sp>
      <p:sp>
        <p:nvSpPr>
          <p:cNvPr id="4" name="04">
            <a:extLst xmlns:a="http://schemas.openxmlformats.org/drawingml/2006/main">
              <a:ext uri="{FF2B5EF4-FFF2-40B4-BE49-F238E27FC236}">
                <a16:creationId xmlns:a16="http://schemas.microsoft.com/office/drawing/2014/main" id="{92930BBB-D5A9-4E42-BFBF-1AB0D84A343E}"/>
              </a:ext>
            </a:extLst>
          </p:cNvPr>
          <p:cNvSpPr>
            <a:spLocks xmlns:a="http://schemas.openxmlformats.org/drawingml/2006/main" noGrp="1"/>
          </p:cNvSpPr>
          <p:nvPr/>
        </p:nvSpPr>
        <p:spPr>
          <a:xfrm xmlns:a="http://schemas.openxmlformats.org/drawingml/2006/main">
            <a:off x="11163300" y="6429375"/>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chemeClr val="tx2"/>
                </a:solidFill>
                <a:latin typeface="Arial"/>
                <a:ea typeface="Arial"/>
                <a:cs typeface="Arial"/>
              </a:defRPr>
            </a:pPr>
            <a:r>
              <a:rPr sz="975" b="0">
                <a:solidFill>
                  <a:schemeClr val="tx2"/>
                </a:solidFill>
                <a:latin typeface="Arial"/>
                <a:ea typeface="Arial"/>
                <a:cs typeface="Arial"/>
              </a:rPr>
              <a:t>04</a:t>
            </a:r>
          </a:p>
        </p:txBody>
      </p:sp>
      <p:sp>
        <p:nvSpPr>
          <p:cNvPr id="5" name="Chart: illustrative index only. Replace sample values and ad">
            <a:extLst xmlns:a="http://schemas.openxmlformats.org/drawingml/2006/main">
              <a:ext uri="{FF2B5EF4-FFF2-40B4-BE49-F238E27FC236}">
                <a16:creationId xmlns:a16="http://schemas.microsoft.com/office/drawing/2014/main" id="{80C59212-6819-4110-B814-17C42AFEA3D7}"/>
              </a:ext>
            </a:extLst>
          </p:cNvPr>
          <p:cNvSpPr>
            <a:spLocks xmlns:a="http://schemas.openxmlformats.org/drawingml/2006/main" noGrp="1"/>
          </p:cNvSpPr>
          <p:nvPr/>
        </p:nvSpPr>
        <p:spPr>
          <a:xfrm xmlns:a="http://schemas.openxmlformats.org/drawingml/2006/main">
            <a:off x="609600" y="598170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Chart: illustrative index only. Replace sample values and add [customer research source, date].</a:t>
            </a:r>
          </a:p>
        </p:txBody>
      </p:sp>
      <p:sp>
        <p:nvSpPr>
          <p:cNvPr id="6" name="[Three distinct sources of customer cost]">
            <a:extLst xmlns:a="http://schemas.openxmlformats.org/drawingml/2006/main">
              <a:ext uri="{FF2B5EF4-FFF2-40B4-BE49-F238E27FC236}">
                <a16:creationId xmlns:a16="http://schemas.microsoft.com/office/drawing/2014/main" id="{040F096B-C4B6-40C4-A4CB-4A07BBD40D61}"/>
              </a:ext>
            </a:extLst>
          </p:cNvPr>
          <p:cNvSpPr>
            <a:spLocks xmlns:a="http://schemas.openxmlformats.org/drawingml/2006/main" noGrp="1"/>
          </p:cNvSpPr>
          <p:nvPr/>
        </p:nvSpPr>
        <p:spPr>
          <a:xfrm xmlns:a="http://schemas.openxmlformats.org/drawingml/2006/main">
            <a:off x="609600" y="19240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chemeClr val="tx1"/>
                </a:solidFill>
                <a:latin typeface="Arial"/>
                <a:ea typeface="Arial"/>
                <a:cs typeface="Arial"/>
              </a:defRPr>
            </a:pPr>
            <a:r>
              <a:rPr sz="1875" b="1">
                <a:solidFill>
                  <a:schemeClr val="tx1"/>
                </a:solidFill>
                <a:latin typeface="Arial"/>
                <a:ea typeface="Arial"/>
                <a:cs typeface="Arial"/>
              </a:rPr>
              <a:t>[Three distinct sources of customer cost]</a:t>
            </a:r>
          </a:p>
        </p:txBody>
      </p:sp>
      <p:sp>
        <p:nvSpPr>
          <p:cNvPr id="7" name="Illustrative index, total = 100">
            <a:extLst xmlns:a="http://schemas.openxmlformats.org/drawingml/2006/main">
              <a:ext uri="{FF2B5EF4-FFF2-40B4-BE49-F238E27FC236}">
                <a16:creationId xmlns:a16="http://schemas.microsoft.com/office/drawing/2014/main" id="{3142F998-4330-4A16-B737-865FD4765DB3}"/>
              </a:ext>
            </a:extLst>
          </p:cNvPr>
          <p:cNvSpPr>
            <a:spLocks xmlns:a="http://schemas.openxmlformats.org/drawingml/2006/main" noGrp="1"/>
          </p:cNvSpPr>
          <p:nvPr/>
        </p:nvSpPr>
        <p:spPr>
          <a:xfrm xmlns:a="http://schemas.openxmlformats.org/drawingml/2006/main">
            <a:off x="609600" y="2343150"/>
            <a:ext cx="752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chemeClr val="tx2"/>
                </a:solidFill>
                <a:latin typeface="Arial"/>
                <a:ea typeface="Arial"/>
                <a:cs typeface="Arial"/>
              </a:defRPr>
            </a:pPr>
            <a:r>
              <a:rPr sz="1350" b="0">
                <a:solidFill>
                  <a:schemeClr val="tx2"/>
                </a:solidFill>
                <a:latin typeface="Arial"/>
                <a:ea typeface="Arial"/>
                <a:cs typeface="Arial"/>
              </a:rPr>
              <a:t>Illustrative index, total = 100</a:t>
            </a:r>
          </a:p>
        </p:txBody>
      </p:sp>
      <p:graphicFrame>
        <p:nvGraphicFramePr>
          <p:cNvPr id="20" name="Chart"/>
          <p:cNvGraphicFramePr/>
          <p:nvPr/>
        </p:nvGraphicFramePr>
        <p:xfrm>
          <a:off xmlns:a="http://schemas.openxmlformats.org/drawingml/2006/main" x="609600" y="2790825"/>
          <a:ext xmlns:a="http://schemas.openxmlformats.org/drawingml/2006/main" cx="7258050" cy="2714625"/>
        </p:xfrm>
        <a:graphic xmlns:a="http://schemas.openxmlformats.org/drawingml/2006/main">
          <a:graphicData uri="http://schemas.openxmlformats.org/drawingml/2006/chart">
            <c:chart xmlns:r="http://schemas.openxmlformats.org/officeDocument/2006/relationships" xmlns:c="http://schemas.openxmlformats.org/drawingml/2006/chart" r:id="R3c1f03309e87467c"/>
          </a:graphicData>
        </a:graphic>
      </p:graphicFrame>
      <p:sp>
        <p:nvSpPr>
          <p:cNvPr id="9" name="[Currency X / Y hours]">
            <a:extLst xmlns:a="http://schemas.openxmlformats.org/drawingml/2006/main">
              <a:ext uri="{FF2B5EF4-FFF2-40B4-BE49-F238E27FC236}">
                <a16:creationId xmlns:a16="http://schemas.microsoft.com/office/drawing/2014/main" id="{0B20E33C-A67C-4B82-9F33-C0B18CEAB3E3}"/>
              </a:ext>
            </a:extLst>
          </p:cNvPr>
          <p:cNvSpPr>
            <a:spLocks xmlns:a="http://schemas.openxmlformats.org/drawingml/2006/main" noGrp="1"/>
          </p:cNvSpPr>
          <p:nvPr/>
        </p:nvSpPr>
        <p:spPr>
          <a:xfrm xmlns:a="http://schemas.openxmlformats.org/drawingml/2006/main">
            <a:off x="8477250" y="2514600"/>
            <a:ext cx="3105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chemeClr val="accent2"/>
                </a:solidFill>
                <a:latin typeface="Arial"/>
                <a:ea typeface="Arial"/>
                <a:cs typeface="Arial"/>
              </a:defRPr>
            </a:pPr>
            <a:r>
              <a:rPr sz="2775" b="1">
                <a:solidFill>
                  <a:schemeClr val="accent2"/>
                </a:solidFill>
                <a:latin typeface="Arial"/>
                <a:ea typeface="Arial"/>
                <a:cs typeface="Arial"/>
              </a:rPr>
              <a:t>[Currency X / Y hours]</a:t>
            </a:r>
          </a:p>
        </p:txBody>
      </p:sp>
      <p:sp>
        <p:nvSpPr>
          <p:cNvPr id="10" name="[Annual loss per customer]">
            <a:extLst xmlns:a="http://schemas.openxmlformats.org/drawingml/2006/main">
              <a:ext uri="{FF2B5EF4-FFF2-40B4-BE49-F238E27FC236}">
                <a16:creationId xmlns:a16="http://schemas.microsoft.com/office/drawing/2014/main" id="{6F3887B2-520A-49EB-9828-847A96B63A19}"/>
              </a:ext>
            </a:extLst>
          </p:cNvPr>
          <p:cNvSpPr>
            <a:spLocks xmlns:a="http://schemas.openxmlformats.org/drawingml/2006/main" noGrp="1"/>
          </p:cNvSpPr>
          <p:nvPr/>
        </p:nvSpPr>
        <p:spPr>
          <a:xfrm xmlns:a="http://schemas.openxmlformats.org/drawingml/2006/main">
            <a:off x="8477250" y="3400425"/>
            <a:ext cx="3105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[Annual loss per customer]</a:t>
            </a:r>
          </a:p>
        </p:txBody>
      </p:sp>
      <p:sp>
        <p:nvSpPr>
          <p:cNvPr id="11" name="The unmet need">
            <a:extLst xmlns:a="http://schemas.openxmlformats.org/drawingml/2006/main">
              <a:ext uri="{FF2B5EF4-FFF2-40B4-BE49-F238E27FC236}">
                <a16:creationId xmlns:a16="http://schemas.microsoft.com/office/drawing/2014/main" id="{DD8B8BE5-58E8-4F64-91AA-0DCAB7A4C9C7}"/>
              </a:ext>
            </a:extLst>
          </p:cNvPr>
          <p:cNvSpPr>
            <a:spLocks xmlns:a="http://schemas.openxmlformats.org/drawingml/2006/main" noGrp="1"/>
          </p:cNvSpPr>
          <p:nvPr/>
        </p:nvSpPr>
        <p:spPr>
          <a:xfrm xmlns:a="http://schemas.openxmlformats.org/drawingml/2006/main">
            <a:off x="8477250" y="4400550"/>
            <a:ext cx="3105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chemeClr val="tx1"/>
                </a:solidFill>
                <a:latin typeface="Arial"/>
                <a:ea typeface="Arial"/>
                <a:cs typeface="Arial"/>
              </a:defRPr>
            </a:pPr>
            <a:r>
              <a:rPr sz="1800" b="1">
                <a:solidFill>
                  <a:schemeClr val="tx1"/>
                </a:solidFill>
                <a:latin typeface="Arial"/>
                <a:ea typeface="Arial"/>
                <a:cs typeface="Arial"/>
              </a:rPr>
              <a:t>The unmet need</a:t>
            </a:r>
          </a:p>
        </p:txBody>
      </p:sp>
      <p:sp>
        <p:nvSpPr>
          <p:cNvPr id="12" name="[Why existing approaches&#10;leave this problem unsolved]">
            <a:extLst xmlns:a="http://schemas.openxmlformats.org/drawingml/2006/main">
              <a:ext uri="{FF2B5EF4-FFF2-40B4-BE49-F238E27FC236}">
                <a16:creationId xmlns:a16="http://schemas.microsoft.com/office/drawing/2014/main" id="{410F7864-CAFE-4356-B24D-DB0373307FA7}"/>
              </a:ext>
            </a:extLst>
          </p:cNvPr>
          <p:cNvSpPr>
            <a:spLocks xmlns:a="http://schemas.openxmlformats.org/drawingml/2006/main" noGrp="1"/>
          </p:cNvSpPr>
          <p:nvPr/>
        </p:nvSpPr>
        <p:spPr>
          <a:xfrm xmlns:a="http://schemas.openxmlformats.org/drawingml/2006/main">
            <a:off x="8477250" y="4838700"/>
            <a:ext cx="3105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[Why existing approaches</a:t>
            </a:r>
          </a:p>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leave this problem unsolved]</a:t>
            </a:r>
          </a:p>
        </p:txBody>
      </p:sp>
    </p:spTree>
    <p:extLst>
      <p:ext uri="{BB962C8B-B14F-4D97-AF65-F5344CB8AC3E}">
        <p14:creationId xmlns:p14="http://schemas.microsoft.com/office/powerpoint/2010/main" val="1278042993"/>
      </p:ext>
    </p:extLst>
  </p:cSld>
</p:sld>
</file>

<file path=ppt/slides/slide5.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1" name="placeholder_1">
            <a:extLst xmlns:a="http://schemas.openxmlformats.org/drawingml/2006/main">
              <a:ext uri="{FF2B5EF4-FFF2-40B4-BE49-F238E27FC236}">
                <a16:creationId xmlns:a16="http://schemas.microsoft.com/office/drawing/2014/main" id="{BB095E9C-35B4-4BA7-A2C3-A7E35198300D}"/>
              </a:ext>
            </a:extLst>
          </p:cNvPr>
          <p:cNvSpPr>
            <a:spLocks xmlns:a="http://schemas.openxmlformats.org/drawingml/2006/main" noGrp="1"/>
          </p:cNvSpPr>
          <p:nvPr>
            <p:ph type="title" idx="0"/>
          </p:nvPr>
        </p:nvSpPr>
        <p:spPr>
          <a:xfrm xmlns:a="http://schemas.openxmlformats.org/drawingml/2006/main">
            <a:off x="609600" y="695325"/>
            <a:ext cx="10972800" cy="9334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2850" b="1">
                <a:solidFill>
                  <a:schemeClr val="tx1"/>
                </a:solidFill>
                <a:latin typeface="Arial"/>
                <a:ea typeface="Arial"/>
                <a:cs typeface="Arial"/>
              </a:defRPr>
            </a:pPr>
            <a:r>
              <a:rPr sz="2850" b="1">
                <a:solidFill>
                  <a:schemeClr val="tx1"/>
                </a:solidFill>
                <a:latin typeface="Arial"/>
                <a:ea typeface="Arial"/>
                <a:cs typeface="Arial"/>
              </a:rPr>
              <a:t>[Product] improves [customer outcome] by [X%]</a:t>
            </a:r>
          </a:p>
        </p:txBody>
      </p:sp>
      <p:sp>
        <p:nvSpPr>
          <p:cNvPr id="2" name="OUR SOLUTION">
            <a:extLst xmlns:a="http://schemas.openxmlformats.org/drawingml/2006/main">
              <a:ext uri="{FF2B5EF4-FFF2-40B4-BE49-F238E27FC236}">
                <a16:creationId xmlns:a16="http://schemas.microsoft.com/office/drawing/2014/main" id="{78CA7E44-6FE7-4CA5-BE6D-866CBB9394EC}"/>
              </a:ext>
            </a:extLst>
          </p:cNvPr>
          <p:cNvSpPr>
            <a:spLocks xmlns:a="http://schemas.openxmlformats.org/drawingml/2006/main" noGrp="1"/>
          </p:cNvSpPr>
          <p:nvPr/>
        </p:nvSpPr>
        <p:spPr>
          <a:xfrm xmlns:a="http://schemas.openxmlformats.org/drawingml/2006/main">
            <a:off x="609600" y="323850"/>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chemeClr val="accent2"/>
                </a:solidFill>
                <a:latin typeface="Arial"/>
                <a:ea typeface="Arial"/>
                <a:cs typeface="Arial"/>
              </a:defRPr>
            </a:pPr>
            <a:r>
              <a:rPr sz="1125" b="1">
                <a:solidFill>
                  <a:schemeClr val="accent2"/>
                </a:solidFill>
                <a:latin typeface="Arial"/>
                <a:ea typeface="Arial"/>
                <a:cs typeface="Arial"/>
              </a:rPr>
              <a:t>OUR SOLUTION</a:t>
            </a:r>
          </a:p>
        </p:txBody>
      </p:sp>
      <p:sp>
        <p:nvSpPr>
          <p:cNvPr id="3" name="[Company]   Confidential">
            <a:extLst xmlns:a="http://schemas.openxmlformats.org/drawingml/2006/main">
              <a:ext uri="{FF2B5EF4-FFF2-40B4-BE49-F238E27FC236}">
                <a16:creationId xmlns:a16="http://schemas.microsoft.com/office/drawing/2014/main" id="{CBC41CD9-94B6-4CD4-A1F7-20DD6ABE92F3}"/>
              </a:ext>
            </a:extLst>
          </p:cNvPr>
          <p:cNvSpPr>
            <a:spLocks xmlns:a="http://schemas.openxmlformats.org/drawingml/2006/main" noGrp="1"/>
          </p:cNvSpPr>
          <p:nvPr/>
        </p:nvSpPr>
        <p:spPr>
          <a:xfrm xmlns:a="http://schemas.openxmlformats.org/drawingml/2006/main">
            <a:off x="609600" y="6429375"/>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[Company]   Confidential</a:t>
            </a:r>
          </a:p>
        </p:txBody>
      </p:sp>
      <p:sp>
        <p:nvSpPr>
          <p:cNvPr id="4" name="05">
            <a:extLst xmlns:a="http://schemas.openxmlformats.org/drawingml/2006/main">
              <a:ext uri="{FF2B5EF4-FFF2-40B4-BE49-F238E27FC236}">
                <a16:creationId xmlns:a16="http://schemas.microsoft.com/office/drawing/2014/main" id="{278404CF-E738-4888-8511-84F232327A13}"/>
              </a:ext>
            </a:extLst>
          </p:cNvPr>
          <p:cNvSpPr>
            <a:spLocks xmlns:a="http://schemas.openxmlformats.org/drawingml/2006/main" noGrp="1"/>
          </p:cNvSpPr>
          <p:nvPr/>
        </p:nvSpPr>
        <p:spPr>
          <a:xfrm xmlns:a="http://schemas.openxmlformats.org/drawingml/2006/main">
            <a:off x="11163300" y="6429375"/>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chemeClr val="tx2"/>
                </a:solidFill>
                <a:latin typeface="Arial"/>
                <a:ea typeface="Arial"/>
                <a:cs typeface="Arial"/>
              </a:defRPr>
            </a:pPr>
            <a:r>
              <a:rPr sz="975" b="0">
                <a:solidFill>
                  <a:schemeClr val="tx2"/>
                </a:solidFill>
                <a:latin typeface="Arial"/>
                <a:ea typeface="Arial"/>
                <a:cs typeface="Arial"/>
              </a:rPr>
              <a:t>05</a:t>
            </a:r>
          </a:p>
        </p:txBody>
      </p:sp>
      <p:sp>
        <p:nvSpPr>
          <p:cNvPr id="5" name="Source: [Document / dataset, date, page or link]">
            <a:extLst xmlns:a="http://schemas.openxmlformats.org/drawingml/2006/main">
              <a:ext uri="{FF2B5EF4-FFF2-40B4-BE49-F238E27FC236}">
                <a16:creationId xmlns:a16="http://schemas.microsoft.com/office/drawing/2014/main" id="{192E30C8-3316-45EF-823C-06B676D624E3}"/>
              </a:ext>
            </a:extLst>
          </p:cNvPr>
          <p:cNvSpPr>
            <a:spLocks xmlns:a="http://schemas.openxmlformats.org/drawingml/2006/main" noGrp="1"/>
          </p:cNvSpPr>
          <p:nvPr/>
        </p:nvSpPr>
        <p:spPr>
          <a:xfrm xmlns:a="http://schemas.openxmlformats.org/drawingml/2006/main">
            <a:off x="609600" y="598170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Source: [Document / dataset, date, page or link]</a:t>
            </a:r>
          </a:p>
        </p:txBody>
      </p:sp>
      <p:sp>
        <p:nvSpPr>
          <p:cNvPr id="6" name="">
            <a:extLst xmlns:a="http://schemas.openxmlformats.org/drawingml/2006/main">
              <a:ext uri="{FF2B5EF4-FFF2-40B4-BE49-F238E27FC236}">
                <a16:creationId xmlns:a16="http://schemas.microsoft.com/office/drawing/2014/main" id="{93716810-2C08-4277-97D1-471DFF738A4C}"/>
              </a:ext>
            </a:extLst>
          </p:cNvPr>
          <p:cNvSpPr>
            <a:spLocks xmlns:a="http://schemas.openxmlformats.org/drawingml/2006/main" noGrp="1"/>
          </p:cNvSpPr>
          <p:nvPr/>
        </p:nvSpPr>
        <p:spPr>
          <a:xfrm xmlns:a="http://schemas.openxmlformats.org/drawingml/2006/main">
            <a:off x="609600" y="2162175"/>
            <a:ext cx="3409950" cy="657225"/>
          </a:xfrm>
          <a:prstGeom xmlns:a="http://schemas.openxmlformats.org/drawingml/2006/main" prst="rect">
            <a:avLst/>
          </a:prstGeom>
          <a:solidFill xmlns:a="http://schemas.openxmlformats.org/drawingml/2006/main">
            <a:schemeClr val="accent1"/>
          </a:solidFill>
          <a:ln xmlns:a="http://schemas.openxmlformats.org/drawingml/2006/main" w="0">
            <a:noFill/>
          </a:ln>
        </p:spPr>
      </p:sp>
      <p:sp>
        <p:nvSpPr>
          <p:cNvPr id="7" name="01   [Capture the input]">
            <a:extLst xmlns:a="http://schemas.openxmlformats.org/drawingml/2006/main">
              <a:ext uri="{FF2B5EF4-FFF2-40B4-BE49-F238E27FC236}">
                <a16:creationId xmlns:a16="http://schemas.microsoft.com/office/drawing/2014/main" id="{2B472B36-514A-42FF-9FA2-5656CA40F021}"/>
              </a:ext>
            </a:extLst>
          </p:cNvPr>
          <p:cNvSpPr>
            <a:spLocks xmlns:a="http://schemas.openxmlformats.org/drawingml/2006/main" noGrp="1"/>
          </p:cNvSpPr>
          <p:nvPr/>
        </p:nvSpPr>
        <p:spPr>
          <a:xfrm xmlns:a="http://schemas.openxmlformats.org/drawingml/2006/main">
            <a:off x="800100" y="2343150"/>
            <a:ext cx="304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01   [Capture the input]</a:t>
            </a:r>
          </a:p>
        </p:txBody>
      </p:sp>
      <p:sp>
        <p:nvSpPr>
          <p:cNvPr id="8" name="[What the customer provides&#10;and how the product receives it]">
            <a:extLst xmlns:a="http://schemas.openxmlformats.org/drawingml/2006/main">
              <a:ext uri="{FF2B5EF4-FFF2-40B4-BE49-F238E27FC236}">
                <a16:creationId xmlns:a16="http://schemas.microsoft.com/office/drawing/2014/main" id="{B614C73A-00D2-4EEB-814B-B9E783FF949E}"/>
              </a:ext>
            </a:extLst>
          </p:cNvPr>
          <p:cNvSpPr>
            <a:spLocks xmlns:a="http://schemas.openxmlformats.org/drawingml/2006/main" noGrp="1"/>
          </p:cNvSpPr>
          <p:nvPr/>
        </p:nvSpPr>
        <p:spPr>
          <a:xfrm xmlns:a="http://schemas.openxmlformats.org/drawingml/2006/main">
            <a:off x="609600" y="3086100"/>
            <a:ext cx="3390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[What the customer provides</a:t>
            </a:r>
          </a:p>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and how the product receives it]</a:t>
            </a:r>
          </a:p>
        </p:txBody>
      </p:sp>
      <p:sp>
        <p:nvSpPr>
          <p:cNvPr id="9" name="">
            <a:extLst xmlns:a="http://schemas.openxmlformats.org/drawingml/2006/main">
              <a:ext uri="{FF2B5EF4-FFF2-40B4-BE49-F238E27FC236}">
                <a16:creationId xmlns:a16="http://schemas.microsoft.com/office/drawing/2014/main" id="{77E8044E-1884-428D-A70D-0AD330F0E3C6}"/>
              </a:ext>
            </a:extLst>
          </p:cNvPr>
          <p:cNvSpPr>
            <a:spLocks xmlns:a="http://schemas.openxmlformats.org/drawingml/2006/main" noGrp="1"/>
          </p:cNvSpPr>
          <p:nvPr/>
        </p:nvSpPr>
        <p:spPr>
          <a:xfrm xmlns:a="http://schemas.openxmlformats.org/drawingml/2006/main">
            <a:off x="4105275" y="2381250"/>
            <a:ext cx="200025" cy="209550"/>
          </a:xfrm>
          <a:prstGeom xmlns:a="http://schemas.openxmlformats.org/drawingml/2006/main" prst="rightArrow">
            <a:avLst/>
          </a:prstGeom>
          <a:solidFill xmlns:a="http://schemas.openxmlformats.org/drawingml/2006/main">
            <a:srgbClr val="9EB4C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E386E17-D09F-4A4D-A951-040BD8EEBDCA}"/>
              </a:ext>
            </a:extLst>
          </p:cNvPr>
          <p:cNvSpPr>
            <a:spLocks xmlns:a="http://schemas.openxmlformats.org/drawingml/2006/main" noGrp="1"/>
          </p:cNvSpPr>
          <p:nvPr/>
        </p:nvSpPr>
        <p:spPr>
          <a:xfrm xmlns:a="http://schemas.openxmlformats.org/drawingml/2006/main">
            <a:off x="4391025" y="2162175"/>
            <a:ext cx="3409950" cy="657225"/>
          </a:xfrm>
          <a:prstGeom xmlns:a="http://schemas.openxmlformats.org/drawingml/2006/main" prst="rect">
            <a:avLst/>
          </a:prstGeom>
          <a:solidFill xmlns:a="http://schemas.openxmlformats.org/drawingml/2006/main">
            <a:schemeClr val="accent2"/>
          </a:solidFill>
          <a:ln xmlns:a="http://schemas.openxmlformats.org/drawingml/2006/main" w="0">
            <a:noFill/>
          </a:ln>
        </p:spPr>
      </p:sp>
      <p:sp>
        <p:nvSpPr>
          <p:cNvPr id="11" name="02   [Perform the core task]">
            <a:extLst xmlns:a="http://schemas.openxmlformats.org/drawingml/2006/main">
              <a:ext uri="{FF2B5EF4-FFF2-40B4-BE49-F238E27FC236}">
                <a16:creationId xmlns:a16="http://schemas.microsoft.com/office/drawing/2014/main" id="{8A93E231-1D0A-4832-8008-CB22396F2629}"/>
              </a:ext>
            </a:extLst>
          </p:cNvPr>
          <p:cNvSpPr>
            <a:spLocks xmlns:a="http://schemas.openxmlformats.org/drawingml/2006/main" noGrp="1"/>
          </p:cNvSpPr>
          <p:nvPr/>
        </p:nvSpPr>
        <p:spPr>
          <a:xfrm xmlns:a="http://schemas.openxmlformats.org/drawingml/2006/main">
            <a:off x="4581525" y="2343150"/>
            <a:ext cx="304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02   [Perform the core task]</a:t>
            </a:r>
          </a:p>
        </p:txBody>
      </p:sp>
      <p:sp>
        <p:nvSpPr>
          <p:cNvPr id="12" name="[The capability that solves&#10;the customer problem]">
            <a:extLst xmlns:a="http://schemas.openxmlformats.org/drawingml/2006/main">
              <a:ext uri="{FF2B5EF4-FFF2-40B4-BE49-F238E27FC236}">
                <a16:creationId xmlns:a16="http://schemas.microsoft.com/office/drawing/2014/main" id="{88F53589-D14F-44A4-911E-725C9AD8A7DB}"/>
              </a:ext>
            </a:extLst>
          </p:cNvPr>
          <p:cNvSpPr>
            <a:spLocks xmlns:a="http://schemas.openxmlformats.org/drawingml/2006/main" noGrp="1"/>
          </p:cNvSpPr>
          <p:nvPr/>
        </p:nvSpPr>
        <p:spPr>
          <a:xfrm xmlns:a="http://schemas.openxmlformats.org/drawingml/2006/main">
            <a:off x="4391025" y="3086100"/>
            <a:ext cx="3390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[The capability that solves</a:t>
            </a:r>
          </a:p>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the customer problem]</a:t>
            </a:r>
          </a:p>
        </p:txBody>
      </p:sp>
      <p:sp>
        <p:nvSpPr>
          <p:cNvPr id="13" name="">
            <a:extLst xmlns:a="http://schemas.openxmlformats.org/drawingml/2006/main">
              <a:ext uri="{FF2B5EF4-FFF2-40B4-BE49-F238E27FC236}">
                <a16:creationId xmlns:a16="http://schemas.microsoft.com/office/drawing/2014/main" id="{AE637E1B-DFEE-435C-BCB7-853832292A29}"/>
              </a:ext>
            </a:extLst>
          </p:cNvPr>
          <p:cNvSpPr>
            <a:spLocks xmlns:a="http://schemas.openxmlformats.org/drawingml/2006/main" noGrp="1"/>
          </p:cNvSpPr>
          <p:nvPr/>
        </p:nvSpPr>
        <p:spPr>
          <a:xfrm xmlns:a="http://schemas.openxmlformats.org/drawingml/2006/main">
            <a:off x="7886700" y="2381250"/>
            <a:ext cx="200025" cy="209550"/>
          </a:xfrm>
          <a:prstGeom xmlns:a="http://schemas.openxmlformats.org/drawingml/2006/main" prst="rightArrow">
            <a:avLst/>
          </a:prstGeom>
          <a:solidFill xmlns:a="http://schemas.openxmlformats.org/drawingml/2006/main">
            <a:srgbClr val="9EB4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0D220C5-1F82-4E4A-BDF6-EA279766744A}"/>
              </a:ext>
            </a:extLst>
          </p:cNvPr>
          <p:cNvSpPr>
            <a:spLocks xmlns:a="http://schemas.openxmlformats.org/drawingml/2006/main" noGrp="1"/>
          </p:cNvSpPr>
          <p:nvPr/>
        </p:nvSpPr>
        <p:spPr>
          <a:xfrm xmlns:a="http://schemas.openxmlformats.org/drawingml/2006/main">
            <a:off x="8172450" y="2162175"/>
            <a:ext cx="3409950" cy="657225"/>
          </a:xfrm>
          <a:prstGeom xmlns:a="http://schemas.openxmlformats.org/drawingml/2006/main" prst="rect">
            <a:avLst/>
          </a:prstGeom>
          <a:solidFill xmlns:a="http://schemas.openxmlformats.org/drawingml/2006/main">
            <a:schemeClr val="accent1"/>
          </a:solidFill>
          <a:ln xmlns:a="http://schemas.openxmlformats.org/drawingml/2006/main" w="0">
            <a:noFill/>
          </a:ln>
        </p:spPr>
      </p:sp>
      <p:sp>
        <p:nvSpPr>
          <p:cNvPr id="15" name="03   [Deliver the result]">
            <a:extLst xmlns:a="http://schemas.openxmlformats.org/drawingml/2006/main">
              <a:ext uri="{FF2B5EF4-FFF2-40B4-BE49-F238E27FC236}">
                <a16:creationId xmlns:a16="http://schemas.microsoft.com/office/drawing/2014/main" id="{3CB9A4FD-8C7B-418F-90B5-A01D2EA3451E}"/>
              </a:ext>
            </a:extLst>
          </p:cNvPr>
          <p:cNvSpPr>
            <a:spLocks xmlns:a="http://schemas.openxmlformats.org/drawingml/2006/main" noGrp="1"/>
          </p:cNvSpPr>
          <p:nvPr/>
        </p:nvSpPr>
        <p:spPr>
          <a:xfrm xmlns:a="http://schemas.openxmlformats.org/drawingml/2006/main">
            <a:off x="8362950" y="2343150"/>
            <a:ext cx="304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03   [Deliver the result]</a:t>
            </a:r>
          </a:p>
        </p:txBody>
      </p:sp>
      <p:sp>
        <p:nvSpPr>
          <p:cNvPr id="16" name="[The usable output and&#10;measurable customer benefit]">
            <a:extLst xmlns:a="http://schemas.openxmlformats.org/drawingml/2006/main">
              <a:ext uri="{FF2B5EF4-FFF2-40B4-BE49-F238E27FC236}">
                <a16:creationId xmlns:a16="http://schemas.microsoft.com/office/drawing/2014/main" id="{E2D85918-FF46-4E16-9AC6-55AAE868C4DD}"/>
              </a:ext>
            </a:extLst>
          </p:cNvPr>
          <p:cNvSpPr>
            <a:spLocks xmlns:a="http://schemas.openxmlformats.org/drawingml/2006/main" noGrp="1"/>
          </p:cNvSpPr>
          <p:nvPr/>
        </p:nvSpPr>
        <p:spPr>
          <a:xfrm xmlns:a="http://schemas.openxmlformats.org/drawingml/2006/main">
            <a:off x="8172450" y="3086100"/>
            <a:ext cx="3390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[The usable output and</a:t>
            </a:r>
          </a:p>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measurable customer benefit]</a:t>
            </a:r>
          </a:p>
        </p:txBody>
      </p:sp>
      <p:sp>
        <p:nvSpPr>
          <p:cNvPr id="17" name="">
            <a:extLst xmlns:a="http://schemas.openxmlformats.org/drawingml/2006/main">
              <a:ext uri="{FF2B5EF4-FFF2-40B4-BE49-F238E27FC236}">
                <a16:creationId xmlns:a16="http://schemas.microsoft.com/office/drawing/2014/main" id="{D4360A48-B327-4E36-86B7-624CB294019E}"/>
              </a:ext>
            </a:extLst>
          </p:cNvPr>
          <p:cNvSpPr>
            <a:spLocks xmlns:a="http://schemas.openxmlformats.org/drawingml/2006/main" noGrp="1"/>
          </p:cNvSpPr>
          <p:nvPr/>
        </p:nvSpPr>
        <p:spPr>
          <a:xfrm xmlns:a="http://schemas.openxmlformats.org/drawingml/2006/main">
            <a:off x="609600" y="4324350"/>
            <a:ext cx="10972800" cy="0"/>
          </a:xfrm>
          <a:prstGeom xmlns:a="http://schemas.openxmlformats.org/drawingml/2006/main" prst="line">
            <a:avLst/>
          </a:prstGeom>
          <a:noFill xmlns:a="http://schemas.openxmlformats.org/drawingml/2006/main"/>
          <a:ln xmlns:a="http://schemas.openxmlformats.org/drawingml/2006/main" w="9525">
            <a:solidFill>
              <a:srgbClr val="D9E2E7"/>
            </a:solidFill>
          </a:ln>
        </p:spPr>
      </p:sp>
      <p:sp>
        <p:nvSpPr>
          <p:cNvPr id="18" name="[Before: current result]">
            <a:extLst xmlns:a="http://schemas.openxmlformats.org/drawingml/2006/main">
              <a:ext uri="{FF2B5EF4-FFF2-40B4-BE49-F238E27FC236}">
                <a16:creationId xmlns:a16="http://schemas.microsoft.com/office/drawing/2014/main" id="{7EA89673-F4C2-46BA-AA0B-FF53049ECC4D}"/>
              </a:ext>
            </a:extLst>
          </p:cNvPr>
          <p:cNvSpPr>
            <a:spLocks xmlns:a="http://schemas.openxmlformats.org/drawingml/2006/main" noGrp="1"/>
          </p:cNvSpPr>
          <p:nvPr/>
        </p:nvSpPr>
        <p:spPr>
          <a:xfrm xmlns:a="http://schemas.openxmlformats.org/drawingml/2006/main">
            <a:off x="609600" y="4714875"/>
            <a:ext cx="5010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chemeClr val="tx2"/>
                </a:solidFill>
                <a:latin typeface="Arial"/>
                <a:ea typeface="Arial"/>
                <a:cs typeface="Arial"/>
              </a:defRPr>
            </a:pPr>
            <a:r>
              <a:rPr sz="2100" b="0">
                <a:solidFill>
                  <a:schemeClr val="tx2"/>
                </a:solidFill>
                <a:latin typeface="Arial"/>
                <a:ea typeface="Arial"/>
                <a:cs typeface="Arial"/>
              </a:rPr>
              <a:t>[Before: current result]</a:t>
            </a:r>
          </a:p>
        </p:txBody>
      </p:sp>
      <p:sp>
        <p:nvSpPr>
          <p:cNvPr id="19" name="[After: improved result]">
            <a:extLst xmlns:a="http://schemas.openxmlformats.org/drawingml/2006/main">
              <a:ext uri="{FF2B5EF4-FFF2-40B4-BE49-F238E27FC236}">
                <a16:creationId xmlns:a16="http://schemas.microsoft.com/office/drawing/2014/main" id="{C31028AB-F9E0-488A-9652-0C0EE9599D29}"/>
              </a:ext>
            </a:extLst>
          </p:cNvPr>
          <p:cNvSpPr>
            <a:spLocks xmlns:a="http://schemas.openxmlformats.org/drawingml/2006/main" noGrp="1"/>
          </p:cNvSpPr>
          <p:nvPr/>
        </p:nvSpPr>
        <p:spPr>
          <a:xfrm xmlns:a="http://schemas.openxmlformats.org/drawingml/2006/main">
            <a:off x="6315075" y="4714875"/>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chemeClr val="accent2"/>
                </a:solidFill>
                <a:latin typeface="Arial"/>
                <a:ea typeface="Arial"/>
                <a:cs typeface="Arial"/>
              </a:defRPr>
            </a:pPr>
            <a:r>
              <a:rPr sz="2100" b="1">
                <a:solidFill>
                  <a:schemeClr val="accent2"/>
                </a:solidFill>
                <a:latin typeface="Arial"/>
                <a:ea typeface="Arial"/>
                <a:cs typeface="Arial"/>
              </a:rPr>
              <a:t>[After: improved result]</a:t>
            </a:r>
          </a:p>
        </p:txBody>
      </p:sp>
      <p:sp>
        <p:nvSpPr>
          <p:cNvPr id="20" name="[Measurement method and comparison period]">
            <a:extLst xmlns:a="http://schemas.openxmlformats.org/drawingml/2006/main">
              <a:ext uri="{FF2B5EF4-FFF2-40B4-BE49-F238E27FC236}">
                <a16:creationId xmlns:a16="http://schemas.microsoft.com/office/drawing/2014/main" id="{DFB545D3-04C4-42EC-A3D7-F676708B1C68}"/>
              </a:ext>
            </a:extLst>
          </p:cNvPr>
          <p:cNvSpPr>
            <a:spLocks xmlns:a="http://schemas.openxmlformats.org/drawingml/2006/main" noGrp="1"/>
          </p:cNvSpPr>
          <p:nvPr/>
        </p:nvSpPr>
        <p:spPr>
          <a:xfrm xmlns:a="http://schemas.openxmlformats.org/drawingml/2006/main">
            <a:off x="609600" y="53244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chemeClr val="tx2"/>
                </a:solidFill>
                <a:latin typeface="Arial"/>
                <a:ea typeface="Arial"/>
                <a:cs typeface="Arial"/>
              </a:defRPr>
            </a:pPr>
            <a:r>
              <a:rPr sz="1575" b="0">
                <a:solidFill>
                  <a:schemeClr val="tx2"/>
                </a:solidFill>
                <a:latin typeface="Arial"/>
                <a:ea typeface="Arial"/>
                <a:cs typeface="Arial"/>
              </a:rPr>
              <a:t>[Measurement method and comparison period]</a:t>
            </a:r>
          </a:p>
        </p:txBody>
      </p:sp>
    </p:spTree>
    <p:extLst>
      <p:ext uri="{BB962C8B-B14F-4D97-AF65-F5344CB8AC3E}">
        <p14:creationId xmlns:p14="http://schemas.microsoft.com/office/powerpoint/2010/main" val="1007107219"/>
      </p:ext>
    </p:extLst>
  </p:cSld>
</p:sld>
</file>

<file path=ppt/slides/slide6.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3" name="placeholder_1">
            <a:extLst xmlns:a="http://schemas.openxmlformats.org/drawingml/2006/main">
              <a:ext uri="{FF2B5EF4-FFF2-40B4-BE49-F238E27FC236}">
                <a16:creationId xmlns:a16="http://schemas.microsoft.com/office/drawing/2014/main" id="{D4FDE48A-9B25-4BFB-8EFE-BF956281FBE6}"/>
              </a:ext>
            </a:extLst>
          </p:cNvPr>
          <p:cNvSpPr>
            <a:spLocks xmlns:a="http://schemas.openxmlformats.org/drawingml/2006/main" noGrp="1"/>
          </p:cNvSpPr>
          <p:nvPr>
            <p:ph type="title" idx="0"/>
          </p:nvPr>
        </p:nvSpPr>
        <p:spPr>
          <a:xfrm xmlns:a="http://schemas.openxmlformats.org/drawingml/2006/main">
            <a:off x="609600" y="695325"/>
            <a:ext cx="10972800" cy="9334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2850" b="1">
                <a:solidFill>
                  <a:schemeClr val="tx1"/>
                </a:solidFill>
                <a:latin typeface="Arial"/>
                <a:ea typeface="Arial"/>
                <a:cs typeface="Arial"/>
              </a:defRPr>
            </a:pPr>
            <a:r>
              <a:rPr sz="2850" b="1">
                <a:solidFill>
                  <a:schemeClr val="tx1"/>
                </a:solidFill>
                <a:latin typeface="Arial"/>
                <a:ea typeface="Arial"/>
                <a:cs typeface="Arial"/>
              </a:rPr>
              <a:t>[Primary metric] grew [X%] over [period]</a:t>
            </a:r>
          </a:p>
        </p:txBody>
      </p:sp>
      <p:sp>
        <p:nvSpPr>
          <p:cNvPr id="2" name="TRACTION">
            <a:extLst xmlns:a="http://schemas.openxmlformats.org/drawingml/2006/main">
              <a:ext uri="{FF2B5EF4-FFF2-40B4-BE49-F238E27FC236}">
                <a16:creationId xmlns:a16="http://schemas.microsoft.com/office/drawing/2014/main" id="{B4C7D346-B9A0-4B69-A1D7-1E3A4C19C523}"/>
              </a:ext>
            </a:extLst>
          </p:cNvPr>
          <p:cNvSpPr>
            <a:spLocks xmlns:a="http://schemas.openxmlformats.org/drawingml/2006/main" noGrp="1"/>
          </p:cNvSpPr>
          <p:nvPr/>
        </p:nvSpPr>
        <p:spPr>
          <a:xfrm xmlns:a="http://schemas.openxmlformats.org/drawingml/2006/main">
            <a:off x="609600" y="323850"/>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chemeClr val="accent2"/>
                </a:solidFill>
                <a:latin typeface="Arial"/>
                <a:ea typeface="Arial"/>
                <a:cs typeface="Arial"/>
              </a:defRPr>
            </a:pPr>
            <a:r>
              <a:rPr sz="1125" b="1">
                <a:solidFill>
                  <a:schemeClr val="accent2"/>
                </a:solidFill>
                <a:latin typeface="Arial"/>
                <a:ea typeface="Arial"/>
                <a:cs typeface="Arial"/>
              </a:rPr>
              <a:t>TRACTION</a:t>
            </a:r>
          </a:p>
        </p:txBody>
      </p:sp>
      <p:sp>
        <p:nvSpPr>
          <p:cNvPr id="3" name="[Company]   Confidential">
            <a:extLst xmlns:a="http://schemas.openxmlformats.org/drawingml/2006/main">
              <a:ext uri="{FF2B5EF4-FFF2-40B4-BE49-F238E27FC236}">
                <a16:creationId xmlns:a16="http://schemas.microsoft.com/office/drawing/2014/main" id="{FD67674A-1B8A-42F9-8421-4EC2C66CE3D6}"/>
              </a:ext>
            </a:extLst>
          </p:cNvPr>
          <p:cNvSpPr>
            <a:spLocks xmlns:a="http://schemas.openxmlformats.org/drawingml/2006/main" noGrp="1"/>
          </p:cNvSpPr>
          <p:nvPr/>
        </p:nvSpPr>
        <p:spPr>
          <a:xfrm xmlns:a="http://schemas.openxmlformats.org/drawingml/2006/main">
            <a:off x="609600" y="6429375"/>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[Company]   Confidential</a:t>
            </a:r>
          </a:p>
        </p:txBody>
      </p:sp>
      <p:sp>
        <p:nvSpPr>
          <p:cNvPr id="4" name="06">
            <a:extLst xmlns:a="http://schemas.openxmlformats.org/drawingml/2006/main">
              <a:ext uri="{FF2B5EF4-FFF2-40B4-BE49-F238E27FC236}">
                <a16:creationId xmlns:a16="http://schemas.microsoft.com/office/drawing/2014/main" id="{046D6323-95A4-4A60-93B2-8AF876FB6736}"/>
              </a:ext>
            </a:extLst>
          </p:cNvPr>
          <p:cNvSpPr>
            <a:spLocks xmlns:a="http://schemas.openxmlformats.org/drawingml/2006/main" noGrp="1"/>
          </p:cNvSpPr>
          <p:nvPr/>
        </p:nvSpPr>
        <p:spPr>
          <a:xfrm xmlns:a="http://schemas.openxmlformats.org/drawingml/2006/main">
            <a:off x="11163300" y="6429375"/>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chemeClr val="tx2"/>
                </a:solidFill>
                <a:latin typeface="Arial"/>
                <a:ea typeface="Arial"/>
                <a:cs typeface="Arial"/>
              </a:defRPr>
            </a:pPr>
            <a:r>
              <a:rPr sz="975" b="0">
                <a:solidFill>
                  <a:schemeClr val="tx2"/>
                </a:solidFill>
                <a:latin typeface="Arial"/>
                <a:ea typeface="Arial"/>
                <a:cs typeface="Arial"/>
              </a:rPr>
              <a:t>06</a:t>
            </a:r>
          </a:p>
        </p:txBody>
      </p:sp>
      <p:sp>
        <p:nvSpPr>
          <p:cNvPr id="5" name="Chart: illustrative index only. Replace with [system of reco">
            <a:extLst xmlns:a="http://schemas.openxmlformats.org/drawingml/2006/main">
              <a:ext uri="{FF2B5EF4-FFF2-40B4-BE49-F238E27FC236}">
                <a16:creationId xmlns:a16="http://schemas.microsoft.com/office/drawing/2014/main" id="{CDAC420A-26E9-4944-8B5A-6E07654A88D0}"/>
              </a:ext>
            </a:extLst>
          </p:cNvPr>
          <p:cNvSpPr>
            <a:spLocks xmlns:a="http://schemas.openxmlformats.org/drawingml/2006/main" noGrp="1"/>
          </p:cNvSpPr>
          <p:nvPr/>
        </p:nvSpPr>
        <p:spPr>
          <a:xfrm xmlns:a="http://schemas.openxmlformats.org/drawingml/2006/main">
            <a:off x="609600" y="598170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Chart: illustrative index only. Replace with [system of record, extraction date, metric definition].</a:t>
            </a:r>
          </a:p>
        </p:txBody>
      </p:sp>
      <p:sp>
        <p:nvSpPr>
          <p:cNvPr id="6" name="[Primary metric] by [month / quarter]">
            <a:extLst xmlns:a="http://schemas.openxmlformats.org/drawingml/2006/main">
              <a:ext uri="{FF2B5EF4-FFF2-40B4-BE49-F238E27FC236}">
                <a16:creationId xmlns:a16="http://schemas.microsoft.com/office/drawing/2014/main" id="{A75DB08A-892E-4274-B47D-45D782FE011F}"/>
              </a:ext>
            </a:extLst>
          </p:cNvPr>
          <p:cNvSpPr>
            <a:spLocks xmlns:a="http://schemas.openxmlformats.org/drawingml/2006/main" noGrp="1"/>
          </p:cNvSpPr>
          <p:nvPr/>
        </p:nvSpPr>
        <p:spPr>
          <a:xfrm xmlns:a="http://schemas.openxmlformats.org/drawingml/2006/main">
            <a:off x="609600" y="1933575"/>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chemeClr val="tx1"/>
                </a:solidFill>
                <a:latin typeface="Arial"/>
                <a:ea typeface="Arial"/>
                <a:cs typeface="Arial"/>
              </a:defRPr>
            </a:pPr>
            <a:r>
              <a:rPr sz="1875" b="1">
                <a:solidFill>
                  <a:schemeClr val="tx1"/>
                </a:solidFill>
                <a:latin typeface="Arial"/>
                <a:ea typeface="Arial"/>
                <a:cs typeface="Arial"/>
              </a:rPr>
              <a:t>[Primary metric] by [month / quarter]</a:t>
            </a:r>
          </a:p>
        </p:txBody>
      </p:sp>
      <p:sp>
        <p:nvSpPr>
          <p:cNvPr id="7" name="Illustrative index, starting period = 100">
            <a:extLst xmlns:a="http://schemas.openxmlformats.org/drawingml/2006/main">
              <a:ext uri="{FF2B5EF4-FFF2-40B4-BE49-F238E27FC236}">
                <a16:creationId xmlns:a16="http://schemas.microsoft.com/office/drawing/2014/main" id="{8109F3F6-03B9-4747-BBAA-D53B50F47D8E}"/>
              </a:ext>
            </a:extLst>
          </p:cNvPr>
          <p:cNvSpPr>
            <a:spLocks xmlns:a="http://schemas.openxmlformats.org/drawingml/2006/main" noGrp="1"/>
          </p:cNvSpPr>
          <p:nvPr/>
        </p:nvSpPr>
        <p:spPr>
          <a:xfrm xmlns:a="http://schemas.openxmlformats.org/drawingml/2006/main">
            <a:off x="609600" y="2362200"/>
            <a:ext cx="781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chemeClr val="tx2"/>
                </a:solidFill>
                <a:latin typeface="Arial"/>
                <a:ea typeface="Arial"/>
                <a:cs typeface="Arial"/>
              </a:defRPr>
            </a:pPr>
            <a:r>
              <a:rPr sz="1350" b="0">
                <a:solidFill>
                  <a:schemeClr val="tx2"/>
                </a:solidFill>
                <a:latin typeface="Arial"/>
                <a:ea typeface="Arial"/>
                <a:cs typeface="Arial"/>
              </a:rPr>
              <a:t>Illustrative index, starting period = 100</a:t>
            </a:r>
          </a:p>
        </p:txBody>
      </p:sp>
      <p:graphicFrame>
        <p:nvGraphicFramePr>
          <p:cNvPr id="20" name="Chart"/>
          <p:cNvGraphicFramePr/>
          <p:nvPr/>
        </p:nvGraphicFramePr>
        <p:xfrm>
          <a:off xmlns:a="http://schemas.openxmlformats.org/drawingml/2006/main" x="609600" y="2800350"/>
          <a:ext xmlns:a="http://schemas.openxmlformats.org/drawingml/2006/main" cx="7981950" cy="2847975"/>
        </p:xfrm>
        <a:graphic xmlns:a="http://schemas.openxmlformats.org/drawingml/2006/main">
          <a:graphicData uri="http://schemas.openxmlformats.org/drawingml/2006/chart">
            <c:chart xmlns:r="http://schemas.openxmlformats.org/officeDocument/2006/relationships" xmlns:c="http://schemas.openxmlformats.org/drawingml/2006/chart" r:id="Rbfafb8858582493e"/>
          </a:graphicData>
        </a:graphic>
      </p:graphicFrame>
      <p:sp>
        <p:nvSpPr>
          <p:cNvPr id="9" name="[X%]">
            <a:extLst xmlns:a="http://schemas.openxmlformats.org/drawingml/2006/main">
              <a:ext uri="{FF2B5EF4-FFF2-40B4-BE49-F238E27FC236}">
                <a16:creationId xmlns:a16="http://schemas.microsoft.com/office/drawing/2014/main" id="{C03BDB6B-E845-4C40-8140-2D6403EBA01F}"/>
              </a:ext>
            </a:extLst>
          </p:cNvPr>
          <p:cNvSpPr>
            <a:spLocks xmlns:a="http://schemas.openxmlformats.org/drawingml/2006/main" noGrp="1"/>
          </p:cNvSpPr>
          <p:nvPr/>
        </p:nvSpPr>
        <p:spPr>
          <a:xfrm xmlns:a="http://schemas.openxmlformats.org/drawingml/2006/main">
            <a:off x="9163050" y="2724150"/>
            <a:ext cx="241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75" b="1">
                <a:solidFill>
                  <a:schemeClr val="accent2"/>
                </a:solidFill>
                <a:latin typeface="Arial"/>
                <a:ea typeface="Arial"/>
                <a:cs typeface="Arial"/>
              </a:defRPr>
            </a:pPr>
            <a:r>
              <a:rPr sz="3975" b="1">
                <a:solidFill>
                  <a:schemeClr val="accent2"/>
                </a:solidFill>
                <a:latin typeface="Arial"/>
                <a:ea typeface="Arial"/>
                <a:cs typeface="Arial"/>
              </a:rPr>
              <a:t>[X%]</a:t>
            </a:r>
          </a:p>
        </p:txBody>
      </p:sp>
      <p:sp>
        <p:nvSpPr>
          <p:cNvPr id="10" name="[Retention metric]&#10;[cohort and period]">
            <a:extLst xmlns:a="http://schemas.openxmlformats.org/drawingml/2006/main">
              <a:ext uri="{FF2B5EF4-FFF2-40B4-BE49-F238E27FC236}">
                <a16:creationId xmlns:a16="http://schemas.microsoft.com/office/drawing/2014/main" id="{5836FB95-E0C2-4CF7-AE8D-EB16228B7DA2}"/>
              </a:ext>
            </a:extLst>
          </p:cNvPr>
          <p:cNvSpPr>
            <a:spLocks xmlns:a="http://schemas.openxmlformats.org/drawingml/2006/main" noGrp="1"/>
          </p:cNvSpPr>
          <p:nvPr/>
        </p:nvSpPr>
        <p:spPr>
          <a:xfrm xmlns:a="http://schemas.openxmlformats.org/drawingml/2006/main">
            <a:off x="9163050" y="3486150"/>
            <a:ext cx="2419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chemeClr val="tx2"/>
                </a:solidFill>
                <a:latin typeface="Arial"/>
                <a:ea typeface="Arial"/>
                <a:cs typeface="Arial"/>
              </a:defRPr>
            </a:pPr>
            <a:r>
              <a:rPr sz="1650" b="0">
                <a:solidFill>
                  <a:schemeClr val="tx2"/>
                </a:solidFill>
                <a:latin typeface="Arial"/>
                <a:ea typeface="Arial"/>
                <a:cs typeface="Arial"/>
              </a:rPr>
              <a:t>[Retention metric]</a:t>
            </a:r>
          </a:p>
          <a:p xmlns:a="http://schemas.openxmlformats.org/drawingml/2006/main">
            <a:pPr>
              <a:defRPr sz="1650" b="0">
                <a:solidFill>
                  <a:schemeClr val="tx2"/>
                </a:solidFill>
                <a:latin typeface="Arial"/>
                <a:ea typeface="Arial"/>
                <a:cs typeface="Arial"/>
              </a:defRPr>
            </a:pPr>
            <a:r>
              <a:rPr sz="1650" b="0">
                <a:solidFill>
                  <a:schemeClr val="tx2"/>
                </a:solidFill>
                <a:latin typeface="Arial"/>
                <a:ea typeface="Arial"/>
                <a:cs typeface="Arial"/>
              </a:rPr>
              <a:t>[cohort and period]</a:t>
            </a:r>
          </a:p>
        </p:txBody>
      </p:sp>
      <p:sp>
        <p:nvSpPr>
          <p:cNvPr id="11" name="[N]">
            <a:extLst xmlns:a="http://schemas.openxmlformats.org/drawingml/2006/main">
              <a:ext uri="{FF2B5EF4-FFF2-40B4-BE49-F238E27FC236}">
                <a16:creationId xmlns:a16="http://schemas.microsoft.com/office/drawing/2014/main" id="{B005508B-7C79-435E-BE48-3186E91FFBBB}"/>
              </a:ext>
            </a:extLst>
          </p:cNvPr>
          <p:cNvSpPr>
            <a:spLocks xmlns:a="http://schemas.openxmlformats.org/drawingml/2006/main" noGrp="1"/>
          </p:cNvSpPr>
          <p:nvPr/>
        </p:nvSpPr>
        <p:spPr>
          <a:xfrm xmlns:a="http://schemas.openxmlformats.org/drawingml/2006/main">
            <a:off x="9163050" y="4457700"/>
            <a:ext cx="2419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chemeClr val="tx1"/>
                </a:solidFill>
                <a:latin typeface="Arial"/>
                <a:ea typeface="Arial"/>
                <a:cs typeface="Arial"/>
              </a:defRPr>
            </a:pPr>
            <a:r>
              <a:rPr sz="3375" b="1">
                <a:solidFill>
                  <a:schemeClr val="tx1"/>
                </a:solidFill>
                <a:latin typeface="Arial"/>
                <a:ea typeface="Arial"/>
                <a:cs typeface="Arial"/>
              </a:rPr>
              <a:t>[N]</a:t>
            </a:r>
          </a:p>
        </p:txBody>
      </p:sp>
      <p:sp>
        <p:nvSpPr>
          <p:cNvPr id="12" name="[Paying customers]&#10;[as of date]">
            <a:extLst xmlns:a="http://schemas.openxmlformats.org/drawingml/2006/main">
              <a:ext uri="{FF2B5EF4-FFF2-40B4-BE49-F238E27FC236}">
                <a16:creationId xmlns:a16="http://schemas.microsoft.com/office/drawing/2014/main" id="{FCBA0EB3-3F54-4DF8-935C-9E594B7D7BC9}"/>
              </a:ext>
            </a:extLst>
          </p:cNvPr>
          <p:cNvSpPr>
            <a:spLocks xmlns:a="http://schemas.openxmlformats.org/drawingml/2006/main" noGrp="1"/>
          </p:cNvSpPr>
          <p:nvPr/>
        </p:nvSpPr>
        <p:spPr>
          <a:xfrm xmlns:a="http://schemas.openxmlformats.org/drawingml/2006/main">
            <a:off x="9163050" y="5133975"/>
            <a:ext cx="24193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chemeClr val="tx2"/>
                </a:solidFill>
                <a:latin typeface="Arial"/>
                <a:ea typeface="Arial"/>
                <a:cs typeface="Arial"/>
              </a:defRPr>
            </a:pPr>
            <a:r>
              <a:rPr sz="1650" b="0">
                <a:solidFill>
                  <a:schemeClr val="tx2"/>
                </a:solidFill>
                <a:latin typeface="Arial"/>
                <a:ea typeface="Arial"/>
                <a:cs typeface="Arial"/>
              </a:rPr>
              <a:t>[Paying customers]</a:t>
            </a:r>
          </a:p>
          <a:p xmlns:a="http://schemas.openxmlformats.org/drawingml/2006/main">
            <a:pPr>
              <a:defRPr sz="1650" b="0">
                <a:solidFill>
                  <a:schemeClr val="tx2"/>
                </a:solidFill>
                <a:latin typeface="Arial"/>
                <a:ea typeface="Arial"/>
                <a:cs typeface="Arial"/>
              </a:defRPr>
            </a:pPr>
            <a:r>
              <a:rPr sz="1650" b="0">
                <a:solidFill>
                  <a:schemeClr val="tx2"/>
                </a:solidFill>
                <a:latin typeface="Arial"/>
                <a:ea typeface="Arial"/>
                <a:cs typeface="Arial"/>
              </a:rPr>
              <a:t>[as of date]</a:t>
            </a:r>
          </a:p>
        </p:txBody>
      </p:sp>
    </p:spTree>
    <p:extLst>
      <p:ext uri="{BB962C8B-B14F-4D97-AF65-F5344CB8AC3E}">
        <p14:creationId xmlns:p14="http://schemas.microsoft.com/office/powerpoint/2010/main" val="687565233"/>
      </p:ext>
    </p:extLst>
  </p:cSld>
</p:sld>
</file>

<file path=ppt/slides/slide7.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3" name="placeholder_1">
            <a:extLst xmlns:a="http://schemas.openxmlformats.org/drawingml/2006/main">
              <a:ext uri="{FF2B5EF4-FFF2-40B4-BE49-F238E27FC236}">
                <a16:creationId xmlns:a16="http://schemas.microsoft.com/office/drawing/2014/main" id="{C2463699-62E0-4DFD-8782-25E69A417B71}"/>
              </a:ext>
            </a:extLst>
          </p:cNvPr>
          <p:cNvSpPr>
            <a:spLocks xmlns:a="http://schemas.openxmlformats.org/drawingml/2006/main" noGrp="1"/>
          </p:cNvSpPr>
          <p:nvPr>
            <p:ph type="title" idx="0"/>
          </p:nvPr>
        </p:nvSpPr>
        <p:spPr>
          <a:xfrm xmlns:a="http://schemas.openxmlformats.org/drawingml/2006/main">
            <a:off x="609600" y="695325"/>
            <a:ext cx="10972800" cy="9334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2850" b="1">
                <a:solidFill>
                  <a:schemeClr val="tx1"/>
                </a:solidFill>
                <a:latin typeface="Arial"/>
                <a:ea typeface="Arial"/>
                <a:cs typeface="Arial"/>
              </a:defRPr>
            </a:pPr>
            <a:r>
              <a:rPr sz="2850" b="1">
                <a:solidFill>
                  <a:schemeClr val="tx1"/>
                </a:solidFill>
                <a:latin typeface="Arial"/>
                <a:ea typeface="Arial"/>
                <a:cs typeface="Arial"/>
              </a:rPr>
              <a:t>[Revenue model] supports [X%] gross margin at [scale]</a:t>
            </a:r>
          </a:p>
        </p:txBody>
      </p:sp>
      <p:sp>
        <p:nvSpPr>
          <p:cNvPr id="2" name="BUSINESS MODEL">
            <a:extLst xmlns:a="http://schemas.openxmlformats.org/drawingml/2006/main">
              <a:ext uri="{FF2B5EF4-FFF2-40B4-BE49-F238E27FC236}">
                <a16:creationId xmlns:a16="http://schemas.microsoft.com/office/drawing/2014/main" id="{6FCE1E77-A333-4CE6-B518-0E2CAF16DF46}"/>
              </a:ext>
            </a:extLst>
          </p:cNvPr>
          <p:cNvSpPr>
            <a:spLocks xmlns:a="http://schemas.openxmlformats.org/drawingml/2006/main" noGrp="1"/>
          </p:cNvSpPr>
          <p:nvPr/>
        </p:nvSpPr>
        <p:spPr>
          <a:xfrm xmlns:a="http://schemas.openxmlformats.org/drawingml/2006/main">
            <a:off x="609600" y="323850"/>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chemeClr val="accent2"/>
                </a:solidFill>
                <a:latin typeface="Arial"/>
                <a:ea typeface="Arial"/>
                <a:cs typeface="Arial"/>
              </a:defRPr>
            </a:pPr>
            <a:r>
              <a:rPr sz="1125" b="1">
                <a:solidFill>
                  <a:schemeClr val="accent2"/>
                </a:solidFill>
                <a:latin typeface="Arial"/>
                <a:ea typeface="Arial"/>
                <a:cs typeface="Arial"/>
              </a:rPr>
              <a:t>BUSINESS MODEL</a:t>
            </a:r>
          </a:p>
        </p:txBody>
      </p:sp>
      <p:sp>
        <p:nvSpPr>
          <p:cNvPr id="3" name="[Company]   Confidential">
            <a:extLst xmlns:a="http://schemas.openxmlformats.org/drawingml/2006/main">
              <a:ext uri="{FF2B5EF4-FFF2-40B4-BE49-F238E27FC236}">
                <a16:creationId xmlns:a16="http://schemas.microsoft.com/office/drawing/2014/main" id="{B475BFAD-BDD9-44D4-977D-E04FB789120A}"/>
              </a:ext>
            </a:extLst>
          </p:cNvPr>
          <p:cNvSpPr>
            <a:spLocks xmlns:a="http://schemas.openxmlformats.org/drawingml/2006/main" noGrp="1"/>
          </p:cNvSpPr>
          <p:nvPr/>
        </p:nvSpPr>
        <p:spPr>
          <a:xfrm xmlns:a="http://schemas.openxmlformats.org/drawingml/2006/main">
            <a:off x="609600" y="6429375"/>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[Company]   Confidential</a:t>
            </a:r>
          </a:p>
        </p:txBody>
      </p:sp>
      <p:sp>
        <p:nvSpPr>
          <p:cNvPr id="4" name="07">
            <a:extLst xmlns:a="http://schemas.openxmlformats.org/drawingml/2006/main">
              <a:ext uri="{FF2B5EF4-FFF2-40B4-BE49-F238E27FC236}">
                <a16:creationId xmlns:a16="http://schemas.microsoft.com/office/drawing/2014/main" id="{C5C7AE43-C184-49FD-BB8E-C1437525D9A2}"/>
              </a:ext>
            </a:extLst>
          </p:cNvPr>
          <p:cNvSpPr>
            <a:spLocks xmlns:a="http://schemas.openxmlformats.org/drawingml/2006/main" noGrp="1"/>
          </p:cNvSpPr>
          <p:nvPr/>
        </p:nvSpPr>
        <p:spPr>
          <a:xfrm xmlns:a="http://schemas.openxmlformats.org/drawingml/2006/main">
            <a:off x="11163300" y="6429375"/>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chemeClr val="tx2"/>
                </a:solidFill>
                <a:latin typeface="Arial"/>
                <a:ea typeface="Arial"/>
                <a:cs typeface="Arial"/>
              </a:defRPr>
            </a:pPr>
            <a:r>
              <a:rPr sz="975" b="0">
                <a:solidFill>
                  <a:schemeClr val="tx2"/>
                </a:solidFill>
                <a:latin typeface="Arial"/>
                <a:ea typeface="Arial"/>
                <a:cs typeface="Arial"/>
              </a:rPr>
              <a:t>07</a:t>
            </a:r>
          </a:p>
        </p:txBody>
      </p:sp>
      <p:sp>
        <p:nvSpPr>
          <p:cNvPr id="5" name="Source: [Document / dataset, date, page or link]">
            <a:extLst xmlns:a="http://schemas.openxmlformats.org/drawingml/2006/main">
              <a:ext uri="{FF2B5EF4-FFF2-40B4-BE49-F238E27FC236}">
                <a16:creationId xmlns:a16="http://schemas.microsoft.com/office/drawing/2014/main" id="{9A1A9358-1E5D-4ACF-8555-6B18E6942CC6}"/>
              </a:ext>
            </a:extLst>
          </p:cNvPr>
          <p:cNvSpPr>
            <a:spLocks xmlns:a="http://schemas.openxmlformats.org/drawingml/2006/main" noGrp="1"/>
          </p:cNvSpPr>
          <p:nvPr/>
        </p:nvSpPr>
        <p:spPr>
          <a:xfrm xmlns:a="http://schemas.openxmlformats.org/drawingml/2006/main">
            <a:off x="609600" y="598170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Source: [Document / dataset, date, page or link]</a:t>
            </a:r>
          </a:p>
        </p:txBody>
      </p:sp>
      <p:sp>
        <p:nvSpPr>
          <p:cNvPr id="6" name="Who pays and why">
            <a:extLst xmlns:a="http://schemas.openxmlformats.org/drawingml/2006/main">
              <a:ext uri="{FF2B5EF4-FFF2-40B4-BE49-F238E27FC236}">
                <a16:creationId xmlns:a16="http://schemas.microsoft.com/office/drawing/2014/main" id="{F3BDD749-D3AA-4E24-BE64-9F70E6334E09}"/>
              </a:ext>
            </a:extLst>
          </p:cNvPr>
          <p:cNvSpPr>
            <a:spLocks xmlns:a="http://schemas.openxmlformats.org/drawingml/2006/main" noGrp="1"/>
          </p:cNvSpPr>
          <p:nvPr/>
        </p:nvSpPr>
        <p:spPr>
          <a:xfrm xmlns:a="http://schemas.openxmlformats.org/drawingml/2006/main">
            <a:off x="609600" y="1971675"/>
            <a:ext cx="3543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chemeClr val="tx1"/>
                </a:solidFill>
                <a:latin typeface="Arial"/>
                <a:ea typeface="Arial"/>
                <a:cs typeface="Arial"/>
              </a:defRPr>
            </a:pPr>
            <a:r>
              <a:rPr sz="1950" b="1">
                <a:solidFill>
                  <a:schemeClr val="tx1"/>
                </a:solidFill>
                <a:latin typeface="Arial"/>
                <a:ea typeface="Arial"/>
                <a:cs typeface="Arial"/>
              </a:rPr>
              <a:t>Who pays and why</a:t>
            </a:r>
          </a:p>
        </p:txBody>
      </p:sp>
      <p:sp>
        <p:nvSpPr>
          <p:cNvPr id="7" name="[Buyer / payer]">
            <a:extLst xmlns:a="http://schemas.openxmlformats.org/drawingml/2006/main">
              <a:ext uri="{FF2B5EF4-FFF2-40B4-BE49-F238E27FC236}">
                <a16:creationId xmlns:a16="http://schemas.microsoft.com/office/drawing/2014/main" id="{51CB4D59-D8CE-4352-9085-49C1E4319D07}"/>
              </a:ext>
            </a:extLst>
          </p:cNvPr>
          <p:cNvSpPr>
            <a:spLocks xmlns:a="http://schemas.openxmlformats.org/drawingml/2006/main" noGrp="1"/>
          </p:cNvSpPr>
          <p:nvPr/>
        </p:nvSpPr>
        <p:spPr>
          <a:xfrm xmlns:a="http://schemas.openxmlformats.org/drawingml/2006/main">
            <a:off x="609600" y="25241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chemeClr val="accent2"/>
                </a:solidFill>
                <a:latin typeface="Arial"/>
                <a:ea typeface="Arial"/>
                <a:cs typeface="Arial"/>
              </a:defRPr>
            </a:pPr>
            <a:r>
              <a:rPr sz="2175" b="1">
                <a:solidFill>
                  <a:schemeClr val="accent2"/>
                </a:solidFill>
                <a:latin typeface="Arial"/>
                <a:ea typeface="Arial"/>
                <a:cs typeface="Arial"/>
              </a:rPr>
              <a:t>[Buyer / payer]</a:t>
            </a:r>
          </a:p>
        </p:txBody>
      </p:sp>
      <p:sp>
        <p:nvSpPr>
          <p:cNvPr id="8" name="[Currency X]">
            <a:extLst xmlns:a="http://schemas.openxmlformats.org/drawingml/2006/main">
              <a:ext uri="{FF2B5EF4-FFF2-40B4-BE49-F238E27FC236}">
                <a16:creationId xmlns:a16="http://schemas.microsoft.com/office/drawing/2014/main" id="{2B3D0463-512E-4EAF-BE94-D55AA6E486ED}"/>
              </a:ext>
            </a:extLst>
          </p:cNvPr>
          <p:cNvSpPr>
            <a:spLocks xmlns:a="http://schemas.openxmlformats.org/drawingml/2006/main" noGrp="1"/>
          </p:cNvSpPr>
          <p:nvPr/>
        </p:nvSpPr>
        <p:spPr>
          <a:xfrm xmlns:a="http://schemas.openxmlformats.org/drawingml/2006/main">
            <a:off x="609600" y="32099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chemeClr val="tx1"/>
                </a:solidFill>
                <a:latin typeface="Arial"/>
                <a:ea typeface="Arial"/>
                <a:cs typeface="Arial"/>
              </a:defRPr>
            </a:pPr>
            <a:r>
              <a:rPr sz="3375" b="1">
                <a:solidFill>
                  <a:schemeClr val="tx1"/>
                </a:solidFill>
                <a:latin typeface="Arial"/>
                <a:ea typeface="Arial"/>
                <a:cs typeface="Arial"/>
              </a:rPr>
              <a:t>[Currency X]</a:t>
            </a:r>
          </a:p>
        </p:txBody>
      </p:sp>
      <p:sp>
        <p:nvSpPr>
          <p:cNvPr id="9" name="per [unit] per [period]">
            <a:extLst xmlns:a="http://schemas.openxmlformats.org/drawingml/2006/main">
              <a:ext uri="{FF2B5EF4-FFF2-40B4-BE49-F238E27FC236}">
                <a16:creationId xmlns:a16="http://schemas.microsoft.com/office/drawing/2014/main" id="{59542ED2-D726-48A7-BE68-F43149019863}"/>
              </a:ext>
            </a:extLst>
          </p:cNvPr>
          <p:cNvSpPr>
            <a:spLocks xmlns:a="http://schemas.openxmlformats.org/drawingml/2006/main" noGrp="1"/>
          </p:cNvSpPr>
          <p:nvPr/>
        </p:nvSpPr>
        <p:spPr>
          <a:xfrm xmlns:a="http://schemas.openxmlformats.org/drawingml/2006/main">
            <a:off x="609600" y="3914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chemeClr val="tx2"/>
                </a:solidFill>
                <a:latin typeface="Arial"/>
                <a:ea typeface="Arial"/>
                <a:cs typeface="Arial"/>
              </a:defRPr>
            </a:pPr>
            <a:r>
              <a:rPr sz="1800" b="0">
                <a:solidFill>
                  <a:schemeClr val="tx2"/>
                </a:solidFill>
                <a:latin typeface="Arial"/>
                <a:ea typeface="Arial"/>
                <a:cs typeface="Arial"/>
              </a:rPr>
              <a:t>per [unit] per [period]</a:t>
            </a:r>
          </a:p>
        </p:txBody>
      </p:sp>
      <p:sp>
        <p:nvSpPr>
          <p:cNvPr id="10" name="[Contract structure, billing terms&#10;and reason customers rene">
            <a:extLst xmlns:a="http://schemas.openxmlformats.org/drawingml/2006/main">
              <a:ext uri="{FF2B5EF4-FFF2-40B4-BE49-F238E27FC236}">
                <a16:creationId xmlns:a16="http://schemas.microsoft.com/office/drawing/2014/main" id="{0B5C2EBA-93D3-443C-9E4C-7BF142433BD9}"/>
              </a:ext>
            </a:extLst>
          </p:cNvPr>
          <p:cNvSpPr>
            <a:spLocks xmlns:a="http://schemas.openxmlformats.org/drawingml/2006/main" noGrp="1"/>
          </p:cNvSpPr>
          <p:nvPr/>
        </p:nvSpPr>
        <p:spPr>
          <a:xfrm xmlns:a="http://schemas.openxmlformats.org/drawingml/2006/main">
            <a:off x="609600" y="4733925"/>
            <a:ext cx="3571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chemeClr val="tx2"/>
                </a:solidFill>
                <a:latin typeface="Arial"/>
                <a:ea typeface="Arial"/>
                <a:cs typeface="Arial"/>
              </a:defRPr>
            </a:pPr>
            <a:r>
              <a:rPr sz="1650" b="0">
                <a:solidFill>
                  <a:schemeClr val="tx2"/>
                </a:solidFill>
                <a:latin typeface="Arial"/>
                <a:ea typeface="Arial"/>
                <a:cs typeface="Arial"/>
              </a:rPr>
              <a:t>[Contract structure, billing terms</a:t>
            </a:r>
          </a:p>
          <a:p xmlns:a="http://schemas.openxmlformats.org/drawingml/2006/main">
            <a:pPr>
              <a:defRPr sz="1650" b="0">
                <a:solidFill>
                  <a:schemeClr val="tx2"/>
                </a:solidFill>
                <a:latin typeface="Arial"/>
                <a:ea typeface="Arial"/>
                <a:cs typeface="Arial"/>
              </a:defRPr>
            </a:pPr>
            <a:r>
              <a:rPr sz="1650" b="0">
                <a:solidFill>
                  <a:schemeClr val="tx2"/>
                </a:solidFill>
                <a:latin typeface="Arial"/>
                <a:ea typeface="Arial"/>
                <a:cs typeface="Arial"/>
              </a:rPr>
              <a:t>and reason customers renew]</a:t>
            </a:r>
          </a:p>
        </p:txBody>
      </p:sp>
      <p:graphicFrame>
        <p:nvGraphicFramePr>
          <p:cNvPr id="23" name=""/>
          <p:cNvGraphicFramePr/>
          <p:nvPr/>
        </p:nvGraphicFramePr>
        <p:xfrm>
          <a:off xmlns:a="http://schemas.openxmlformats.org/drawingml/2006/main" x="4552950" y="2028825"/>
          <a:ext xmlns:a="http://schemas.openxmlformats.org/drawingml/2006/main" cx="7029450" cy="3419475"/>
        </p:xfrm>
        <a:graphic xmlns:a="http://schemas.openxmlformats.org/drawingml/2006/main">
          <a:graphicData uri="http://schemas.openxmlformats.org/drawingml/2006/table">
            <a:tbl>
              <a:tblPr/>
              <a:tblGrid>
                <a:gridCol w="3105150"/>
                <a:gridCol w="1962150"/>
                <a:gridCol w="1962150"/>
              </a:tblGrid>
              <a:tr h="683895">
                <a:tc>
                  <a:txBody>
                    <a:bodyPr/>
                    <a:lstStyle/>
                    <a:p>
                      <a:r>
                        <a:rPr sz="1500" b="1">
                          <a:solidFill>
                            <a:srgbClr val="FFFFFF"/>
                          </a:solidFill>
                          <a:latin typeface="Arial"/>
                          <a:ea typeface="Arial"/>
                          <a:cs typeface="Arial"/>
                        </a:rPr>
                        <a:t>Unit economics</a:t>
                      </a:r>
                    </a:p>
                  </a:txBody>
                  <a:tcPr marL="133350" marR="133350" marT="114300" marB="95250" anchor="ctr">
                    <a:solidFill>
                      <a:srgbClr val="092B40"/>
                    </a:solidFill>
                  </a:tcPr>
                </a:tc>
                <a:tc>
                  <a:txBody>
                    <a:bodyPr/>
                    <a:lstStyle/>
                    <a:p>
                      <a:r>
                        <a:rPr sz="1500" b="1">
                          <a:solidFill>
                            <a:srgbClr val="FFFFFF"/>
                          </a:solidFill>
                          <a:latin typeface="Arial"/>
                          <a:ea typeface="Arial"/>
                          <a:cs typeface="Arial"/>
                        </a:rPr>
                        <a:t>Current</a:t>
                      </a:r>
                    </a:p>
                  </a:txBody>
                  <a:tcPr marL="133350" marR="133350" marT="114300" marB="95250" anchor="ctr">
                    <a:solidFill>
                      <a:srgbClr val="092B40"/>
                    </a:solidFill>
                  </a:tcPr>
                </a:tc>
                <a:tc>
                  <a:txBody>
                    <a:bodyPr/>
                    <a:lstStyle/>
                    <a:p>
                      <a:r>
                        <a:rPr sz="1500" b="1">
                          <a:solidFill>
                            <a:srgbClr val="FFFFFF"/>
                          </a:solidFill>
                          <a:latin typeface="Arial"/>
                          <a:ea typeface="Arial"/>
                          <a:cs typeface="Arial"/>
                        </a:rPr>
                        <a:t>At [scale]</a:t>
                      </a:r>
                    </a:p>
                  </a:txBody>
                  <a:tcPr marL="133350" marR="133350" marT="114300" marB="95250" anchor="ctr">
                    <a:solidFill>
                      <a:srgbClr val="092B40"/>
                    </a:solidFill>
                  </a:tcPr>
                </a:tc>
              </a:tr>
              <a:tr h="683895">
                <a:tc>
                  <a:txBody>
                    <a:bodyPr/>
                    <a:lstStyle/>
                    <a:p>
                      <a:r>
                        <a:rPr sz="1500" b="1">
                          <a:solidFill>
                            <a:srgbClr val="183445"/>
                          </a:solidFill>
                          <a:latin typeface="Arial"/>
                          <a:ea typeface="Arial"/>
                          <a:cs typeface="Arial"/>
                        </a:rPr>
                        <a:t>Gross margin</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[X%]</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[X%]</a:t>
                      </a:r>
                    </a:p>
                  </a:txBody>
                  <a:tcPr marL="133350" marR="133350" marT="114300" marB="95250" anchor="ctr">
                    <a:solidFill>
                      <a:srgbClr val="FFFFFF"/>
                    </a:solidFill>
                  </a:tcPr>
                </a:tc>
              </a:tr>
              <a:tr h="683895">
                <a:tc>
                  <a:txBody>
                    <a:bodyPr/>
                    <a:lstStyle/>
                    <a:p>
                      <a:r>
                        <a:rPr sz="1500" b="1">
                          <a:solidFill>
                            <a:srgbClr val="183445"/>
                          </a:solidFill>
                          <a:latin typeface="Arial"/>
                          <a:ea typeface="Arial"/>
                          <a:cs typeface="Arial"/>
                        </a:rPr>
                        <a:t>Acquisition cost</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[Currency X]</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[Currency X]</a:t>
                      </a:r>
                    </a:p>
                  </a:txBody>
                  <a:tcPr marL="133350" marR="133350" marT="114300" marB="95250" anchor="ctr">
                    <a:solidFill>
                      <a:srgbClr val="FFFFFF"/>
                    </a:solidFill>
                  </a:tcPr>
                </a:tc>
              </a:tr>
              <a:tr h="683895">
                <a:tc>
                  <a:txBody>
                    <a:bodyPr/>
                    <a:lstStyle/>
                    <a:p>
                      <a:r>
                        <a:rPr sz="1500" b="1">
                          <a:solidFill>
                            <a:srgbClr val="183445"/>
                          </a:solidFill>
                          <a:latin typeface="Arial"/>
                          <a:ea typeface="Arial"/>
                          <a:cs typeface="Arial"/>
                        </a:rPr>
                        <a:t>Payback period</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[N months]</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[N months]</a:t>
                      </a:r>
                    </a:p>
                  </a:txBody>
                  <a:tcPr marL="133350" marR="133350" marT="114300" marB="95250" anchor="ctr">
                    <a:solidFill>
                      <a:srgbClr val="FFFFFF"/>
                    </a:solidFill>
                  </a:tcPr>
                </a:tc>
              </a:tr>
              <a:tr h="683895">
                <a:tc>
                  <a:txBody>
                    <a:bodyPr/>
                    <a:lstStyle/>
                    <a:p>
                      <a:r>
                        <a:rPr sz="1500" b="1">
                          <a:solidFill>
                            <a:srgbClr val="183445"/>
                          </a:solidFill>
                          <a:latin typeface="Arial"/>
                          <a:ea typeface="Arial"/>
                          <a:cs typeface="Arial"/>
                        </a:rPr>
                        <a:t>Annual revenue / customer</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[Currency X]</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[Currency X]</a:t>
                      </a:r>
                    </a:p>
                  </a:txBody>
                  <a:tcPr marL="133350" marR="133350" marT="114300" marB="95250" anchor="ctr">
                    <a:solidFill>
                      <a:srgbClr val="FFFFFF"/>
                    </a:solidFill>
                  </a:tcPr>
                </a:tc>
              </a:tr>
            </a:tbl>
          </a:graphicData>
        </a:graphic>
      </p:graphicFrame>
      <p:sp>
        <p:nvSpPr>
          <p:cNvPr id="12" name="[Main assumption that changes economics at scale]">
            <a:extLst xmlns:a="http://schemas.openxmlformats.org/drawingml/2006/main">
              <a:ext uri="{FF2B5EF4-FFF2-40B4-BE49-F238E27FC236}">
                <a16:creationId xmlns:a16="http://schemas.microsoft.com/office/drawing/2014/main" id="{47A30A94-0D1E-4C98-9327-039E6F6C2181}"/>
              </a:ext>
            </a:extLst>
          </p:cNvPr>
          <p:cNvSpPr>
            <a:spLocks xmlns:a="http://schemas.openxmlformats.org/drawingml/2006/main" noGrp="1"/>
          </p:cNvSpPr>
          <p:nvPr/>
        </p:nvSpPr>
        <p:spPr>
          <a:xfrm xmlns:a="http://schemas.openxmlformats.org/drawingml/2006/main">
            <a:off x="4552950" y="5600700"/>
            <a:ext cx="702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chemeClr val="tx2"/>
                </a:solidFill>
                <a:latin typeface="Arial"/>
                <a:ea typeface="Arial"/>
                <a:cs typeface="Arial"/>
              </a:defRPr>
            </a:pPr>
            <a:r>
              <a:rPr sz="1350" b="0">
                <a:solidFill>
                  <a:schemeClr val="tx2"/>
                </a:solidFill>
                <a:latin typeface="Arial"/>
                <a:ea typeface="Arial"/>
                <a:cs typeface="Arial"/>
              </a:rPr>
              <a:t>[Main assumption that changes economics at scale]</a:t>
            </a:r>
          </a:p>
        </p:txBody>
      </p:sp>
    </p:spTree>
    <p:extLst>
      <p:ext uri="{BB962C8B-B14F-4D97-AF65-F5344CB8AC3E}">
        <p14:creationId xmlns:p14="http://schemas.microsoft.com/office/powerpoint/2010/main" val="1315887284"/>
      </p:ext>
    </p:extLst>
  </p:cSld>
</p:sld>
</file>

<file path=ppt/slides/slide8.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6727ABB0-82A3-49DD-BD11-2B92234189E3}"/>
              </a:ext>
            </a:extLst>
          </p:cNvPr>
          <p:cNvSpPr>
            <a:spLocks xmlns:a="http://schemas.openxmlformats.org/drawingml/2006/main" noGrp="1"/>
          </p:cNvSpPr>
          <p:nvPr>
            <p:ph type="title" idx="0"/>
          </p:nvPr>
        </p:nvSpPr>
        <p:spPr>
          <a:xfrm xmlns:a="http://schemas.openxmlformats.org/drawingml/2006/main">
            <a:off x="609600" y="695325"/>
            <a:ext cx="10972800" cy="9334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2850" b="1">
                <a:solidFill>
                  <a:schemeClr val="tx1"/>
                </a:solidFill>
                <a:latin typeface="Arial"/>
                <a:ea typeface="Arial"/>
                <a:cs typeface="Arial"/>
              </a:defRPr>
            </a:pPr>
            <a:r>
              <a:rPr sz="2850" b="1">
                <a:solidFill>
                  <a:schemeClr val="tx1"/>
                </a:solidFill>
                <a:latin typeface="Arial"/>
                <a:ea typeface="Arial"/>
                <a:cs typeface="Arial"/>
              </a:rPr>
              <a:t>[Advantage] makes [Company] the better fit for [buyer]</a:t>
            </a:r>
          </a:p>
        </p:txBody>
      </p:sp>
      <p:sp>
        <p:nvSpPr>
          <p:cNvPr id="2" name="COMPETITIVE ADVANTAGE">
            <a:extLst xmlns:a="http://schemas.openxmlformats.org/drawingml/2006/main">
              <a:ext uri="{FF2B5EF4-FFF2-40B4-BE49-F238E27FC236}">
                <a16:creationId xmlns:a16="http://schemas.microsoft.com/office/drawing/2014/main" id="{89EC00E5-A9AE-48B7-AA5F-8E20C146CBE6}"/>
              </a:ext>
            </a:extLst>
          </p:cNvPr>
          <p:cNvSpPr>
            <a:spLocks xmlns:a="http://schemas.openxmlformats.org/drawingml/2006/main" noGrp="1"/>
          </p:cNvSpPr>
          <p:nvPr/>
        </p:nvSpPr>
        <p:spPr>
          <a:xfrm xmlns:a="http://schemas.openxmlformats.org/drawingml/2006/main">
            <a:off x="609600" y="323850"/>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chemeClr val="accent2"/>
                </a:solidFill>
                <a:latin typeface="Arial"/>
                <a:ea typeface="Arial"/>
                <a:cs typeface="Arial"/>
              </a:defRPr>
            </a:pPr>
            <a:r>
              <a:rPr sz="1125" b="1">
                <a:solidFill>
                  <a:schemeClr val="accent2"/>
                </a:solidFill>
                <a:latin typeface="Arial"/>
                <a:ea typeface="Arial"/>
                <a:cs typeface="Arial"/>
              </a:rPr>
              <a:t>COMPETITIVE ADVANTAGE</a:t>
            </a:r>
          </a:p>
        </p:txBody>
      </p:sp>
      <p:sp>
        <p:nvSpPr>
          <p:cNvPr id="3" name="[Company]   Confidential">
            <a:extLst xmlns:a="http://schemas.openxmlformats.org/drawingml/2006/main">
              <a:ext uri="{FF2B5EF4-FFF2-40B4-BE49-F238E27FC236}">
                <a16:creationId xmlns:a16="http://schemas.microsoft.com/office/drawing/2014/main" id="{251CDDCA-5A1F-4F5C-B851-CA775C423FD5}"/>
              </a:ext>
            </a:extLst>
          </p:cNvPr>
          <p:cNvSpPr>
            <a:spLocks xmlns:a="http://schemas.openxmlformats.org/drawingml/2006/main" noGrp="1"/>
          </p:cNvSpPr>
          <p:nvPr/>
        </p:nvSpPr>
        <p:spPr>
          <a:xfrm xmlns:a="http://schemas.openxmlformats.org/drawingml/2006/main">
            <a:off x="609600" y="6429375"/>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[Company]   Confidential</a:t>
            </a:r>
          </a:p>
        </p:txBody>
      </p:sp>
      <p:sp>
        <p:nvSpPr>
          <p:cNvPr id="4" name="08">
            <a:extLst xmlns:a="http://schemas.openxmlformats.org/drawingml/2006/main">
              <a:ext uri="{FF2B5EF4-FFF2-40B4-BE49-F238E27FC236}">
                <a16:creationId xmlns:a16="http://schemas.microsoft.com/office/drawing/2014/main" id="{142E9464-0428-4133-A36D-60C334B0C1E5}"/>
              </a:ext>
            </a:extLst>
          </p:cNvPr>
          <p:cNvSpPr>
            <a:spLocks xmlns:a="http://schemas.openxmlformats.org/drawingml/2006/main" noGrp="1"/>
          </p:cNvSpPr>
          <p:nvPr/>
        </p:nvSpPr>
        <p:spPr>
          <a:xfrm xmlns:a="http://schemas.openxmlformats.org/drawingml/2006/main">
            <a:off x="11163300" y="6429375"/>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chemeClr val="tx2"/>
                </a:solidFill>
                <a:latin typeface="Arial"/>
                <a:ea typeface="Arial"/>
                <a:cs typeface="Arial"/>
              </a:defRPr>
            </a:pPr>
            <a:r>
              <a:rPr sz="975" b="0">
                <a:solidFill>
                  <a:schemeClr val="tx2"/>
                </a:solidFill>
                <a:latin typeface="Arial"/>
                <a:ea typeface="Arial"/>
                <a:cs typeface="Arial"/>
              </a:rPr>
              <a:t>08</a:t>
            </a:r>
          </a:p>
        </p:txBody>
      </p:sp>
      <p:sp>
        <p:nvSpPr>
          <p:cNvPr id="5" name="Source: [Document / dataset, date, page or link]">
            <a:extLst xmlns:a="http://schemas.openxmlformats.org/drawingml/2006/main">
              <a:ext uri="{FF2B5EF4-FFF2-40B4-BE49-F238E27FC236}">
                <a16:creationId xmlns:a16="http://schemas.microsoft.com/office/drawing/2014/main" id="{F5A155F8-7054-4ACA-B212-FC3F1B0C2EA7}"/>
              </a:ext>
            </a:extLst>
          </p:cNvPr>
          <p:cNvSpPr>
            <a:spLocks xmlns:a="http://schemas.openxmlformats.org/drawingml/2006/main" noGrp="1"/>
          </p:cNvSpPr>
          <p:nvPr/>
        </p:nvSpPr>
        <p:spPr>
          <a:xfrm xmlns:a="http://schemas.openxmlformats.org/drawingml/2006/main">
            <a:off x="609600" y="598170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Source: [Document / dataset, date, page or link]</a:t>
            </a:r>
          </a:p>
        </p:txBody>
      </p:sp>
      <p:graphicFrame>
        <p:nvGraphicFramePr>
          <p:cNvPr id="14" name=""/>
          <p:cNvGraphicFramePr/>
          <p:nvPr/>
        </p:nvGraphicFramePr>
        <p:xfrm>
          <a:off xmlns:a="http://schemas.openxmlformats.org/drawingml/2006/main" x="609600" y="2105025"/>
          <a:ext xmlns:a="http://schemas.openxmlformats.org/drawingml/2006/main" cx="10972800" cy="3095625"/>
        </p:xfrm>
        <a:graphic xmlns:a="http://schemas.openxmlformats.org/drawingml/2006/main">
          <a:graphicData uri="http://schemas.openxmlformats.org/drawingml/2006/table">
            <a:tbl>
              <a:tblPr/>
              <a:tblGrid>
                <a:gridCol w="3314700"/>
                <a:gridCol w="2552700"/>
                <a:gridCol w="2552700"/>
                <a:gridCol w="2552700"/>
              </a:tblGrid>
              <a:tr h="619125">
                <a:tc>
                  <a:txBody>
                    <a:bodyPr/>
                    <a:lstStyle/>
                    <a:p>
                      <a:r>
                        <a:rPr sz="1575" b="1">
                          <a:solidFill>
                            <a:srgbClr val="FFFFFF"/>
                          </a:solidFill>
                          <a:latin typeface="Arial"/>
                          <a:ea typeface="Arial"/>
                          <a:cs typeface="Arial"/>
                        </a:rPr>
                        <a:t>Buying criterion</a:t>
                      </a:r>
                    </a:p>
                  </a:txBody>
                  <a:tcPr marL="133350" marR="133350" marT="114300" marB="95250" anchor="ctr">
                    <a:solidFill>
                      <a:srgbClr val="092B40"/>
                    </a:solidFill>
                  </a:tcPr>
                </a:tc>
                <a:tc>
                  <a:txBody>
                    <a:bodyPr/>
                    <a:lstStyle/>
                    <a:p>
                      <a:r>
                        <a:rPr sz="1575" b="1">
                          <a:solidFill>
                            <a:srgbClr val="FFFFFF"/>
                          </a:solidFill>
                          <a:latin typeface="Arial"/>
                          <a:ea typeface="Arial"/>
                          <a:cs typeface="Arial"/>
                        </a:rPr>
                        <a:t>[Company]</a:t>
                      </a:r>
                    </a:p>
                  </a:txBody>
                  <a:tcPr marL="133350" marR="133350" marT="114300" marB="95250" anchor="ctr">
                    <a:solidFill>
                      <a:srgbClr val="092B40"/>
                    </a:solidFill>
                  </a:tcPr>
                </a:tc>
                <a:tc>
                  <a:txBody>
                    <a:bodyPr/>
                    <a:lstStyle/>
                    <a:p>
                      <a:r>
                        <a:rPr sz="1575" b="1">
                          <a:solidFill>
                            <a:srgbClr val="FFFFFF"/>
                          </a:solidFill>
                          <a:latin typeface="Arial"/>
                          <a:ea typeface="Arial"/>
                          <a:cs typeface="Arial"/>
                        </a:rPr>
                        <a:t>[Alternative A]</a:t>
                      </a:r>
                    </a:p>
                  </a:txBody>
                  <a:tcPr marL="133350" marR="133350" marT="114300" marB="95250" anchor="ctr">
                    <a:solidFill>
                      <a:srgbClr val="092B40"/>
                    </a:solidFill>
                  </a:tcPr>
                </a:tc>
                <a:tc>
                  <a:txBody>
                    <a:bodyPr/>
                    <a:lstStyle/>
                    <a:p>
                      <a:r>
                        <a:rPr sz="1575" b="1">
                          <a:solidFill>
                            <a:srgbClr val="FFFFFF"/>
                          </a:solidFill>
                          <a:latin typeface="Arial"/>
                          <a:ea typeface="Arial"/>
                          <a:cs typeface="Arial"/>
                        </a:rPr>
                        <a:t>[Alternative B]</a:t>
                      </a:r>
                    </a:p>
                  </a:txBody>
                  <a:tcPr marL="133350" marR="133350" marT="114300" marB="95250" anchor="ctr">
                    <a:solidFill>
                      <a:srgbClr val="092B40"/>
                    </a:solidFill>
                  </a:tcPr>
                </a:tc>
              </a:tr>
              <a:tr h="619125">
                <a:tc>
                  <a:txBody>
                    <a:bodyPr/>
                    <a:lstStyle/>
                    <a:p>
                      <a:r>
                        <a:rPr sz="1575" b="1">
                          <a:solidFill>
                            <a:srgbClr val="183445"/>
                          </a:solidFill>
                          <a:latin typeface="Arial"/>
                          <a:ea typeface="Arial"/>
                          <a:cs typeface="Arial"/>
                        </a:rPr>
                        <a:t>[Priority criterion 1]</a:t>
                      </a:r>
                    </a:p>
                  </a:txBody>
                  <a:tcPr marL="133350" marR="133350" marT="114300" marB="95250" anchor="ctr">
                    <a:solidFill>
                      <a:srgbClr val="FFFFFF"/>
                    </a:solidFill>
                  </a:tcPr>
                </a:tc>
                <a:tc>
                  <a:txBody>
                    <a:bodyPr/>
                    <a:lstStyle/>
                    <a:p>
                      <a:r>
                        <a:rPr sz="1575" b="1">
                          <a:solidFill>
                            <a:srgbClr val="007F82"/>
                          </a:solidFill>
                          <a:latin typeface="Arial"/>
                          <a:ea typeface="Arial"/>
                          <a:cs typeface="Arial"/>
                        </a:rPr>
                        <a:t>[Evidence]</a:t>
                      </a:r>
                    </a:p>
                  </a:txBody>
                  <a:tcPr marL="133350" marR="133350" marT="114300" marB="95250" anchor="ctr">
                    <a:solidFill>
                      <a:srgbClr val="EFF5F6"/>
                    </a:solidFill>
                  </a:tcPr>
                </a:tc>
                <a:tc>
                  <a:txBody>
                    <a:bodyPr/>
                    <a:lstStyle/>
                    <a:p>
                      <a:r>
                        <a:rPr sz="1575" b="0">
                          <a:solidFill>
                            <a:srgbClr val="183445"/>
                          </a:solidFill>
                          <a:latin typeface="Arial"/>
                          <a:ea typeface="Arial"/>
                          <a:cs typeface="Arial"/>
                        </a:rPr>
                        <a:t>[Evidence]</a:t>
                      </a:r>
                    </a:p>
                  </a:txBody>
                  <a:tcPr marL="133350" marR="133350" marT="114300" marB="95250" anchor="ctr">
                    <a:solidFill>
                      <a:srgbClr val="FFFFFF"/>
                    </a:solidFill>
                  </a:tcPr>
                </a:tc>
                <a:tc>
                  <a:txBody>
                    <a:bodyPr/>
                    <a:lstStyle/>
                    <a:p>
                      <a:r>
                        <a:rPr sz="1575" b="0">
                          <a:solidFill>
                            <a:srgbClr val="183445"/>
                          </a:solidFill>
                          <a:latin typeface="Arial"/>
                          <a:ea typeface="Arial"/>
                          <a:cs typeface="Arial"/>
                        </a:rPr>
                        <a:t>[Evidence]</a:t>
                      </a:r>
                    </a:p>
                  </a:txBody>
                  <a:tcPr marL="133350" marR="133350" marT="114300" marB="95250" anchor="ctr">
                    <a:solidFill>
                      <a:srgbClr val="FFFFFF"/>
                    </a:solidFill>
                  </a:tcPr>
                </a:tc>
              </a:tr>
              <a:tr h="619125">
                <a:tc>
                  <a:txBody>
                    <a:bodyPr/>
                    <a:lstStyle/>
                    <a:p>
                      <a:r>
                        <a:rPr sz="1575" b="1">
                          <a:solidFill>
                            <a:srgbClr val="183445"/>
                          </a:solidFill>
                          <a:latin typeface="Arial"/>
                          <a:ea typeface="Arial"/>
                          <a:cs typeface="Arial"/>
                        </a:rPr>
                        <a:t>[Priority criterion 2]</a:t>
                      </a:r>
                    </a:p>
                  </a:txBody>
                  <a:tcPr marL="133350" marR="133350" marT="114300" marB="95250" anchor="ctr">
                    <a:solidFill>
                      <a:srgbClr val="FFFFFF"/>
                    </a:solidFill>
                  </a:tcPr>
                </a:tc>
                <a:tc>
                  <a:txBody>
                    <a:bodyPr/>
                    <a:lstStyle/>
                    <a:p>
                      <a:r>
                        <a:rPr sz="1575" b="1">
                          <a:solidFill>
                            <a:srgbClr val="007F82"/>
                          </a:solidFill>
                          <a:latin typeface="Arial"/>
                          <a:ea typeface="Arial"/>
                          <a:cs typeface="Arial"/>
                        </a:rPr>
                        <a:t>[Evidence]</a:t>
                      </a:r>
                    </a:p>
                  </a:txBody>
                  <a:tcPr marL="133350" marR="133350" marT="114300" marB="95250" anchor="ctr">
                    <a:solidFill>
                      <a:srgbClr val="EFF5F6"/>
                    </a:solidFill>
                  </a:tcPr>
                </a:tc>
                <a:tc>
                  <a:txBody>
                    <a:bodyPr/>
                    <a:lstStyle/>
                    <a:p>
                      <a:r>
                        <a:rPr sz="1575" b="0">
                          <a:solidFill>
                            <a:srgbClr val="183445"/>
                          </a:solidFill>
                          <a:latin typeface="Arial"/>
                          <a:ea typeface="Arial"/>
                          <a:cs typeface="Arial"/>
                        </a:rPr>
                        <a:t>[Evidence]</a:t>
                      </a:r>
                    </a:p>
                  </a:txBody>
                  <a:tcPr marL="133350" marR="133350" marT="114300" marB="95250" anchor="ctr">
                    <a:solidFill>
                      <a:srgbClr val="FFFFFF"/>
                    </a:solidFill>
                  </a:tcPr>
                </a:tc>
                <a:tc>
                  <a:txBody>
                    <a:bodyPr/>
                    <a:lstStyle/>
                    <a:p>
                      <a:r>
                        <a:rPr sz="1575" b="0">
                          <a:solidFill>
                            <a:srgbClr val="183445"/>
                          </a:solidFill>
                          <a:latin typeface="Arial"/>
                          <a:ea typeface="Arial"/>
                          <a:cs typeface="Arial"/>
                        </a:rPr>
                        <a:t>[Evidence]</a:t>
                      </a:r>
                    </a:p>
                  </a:txBody>
                  <a:tcPr marL="133350" marR="133350" marT="114300" marB="95250" anchor="ctr">
                    <a:solidFill>
                      <a:srgbClr val="FFFFFF"/>
                    </a:solidFill>
                  </a:tcPr>
                </a:tc>
              </a:tr>
              <a:tr h="619125">
                <a:tc>
                  <a:txBody>
                    <a:bodyPr/>
                    <a:lstStyle/>
                    <a:p>
                      <a:r>
                        <a:rPr sz="1575" b="1">
                          <a:solidFill>
                            <a:srgbClr val="183445"/>
                          </a:solidFill>
                          <a:latin typeface="Arial"/>
                          <a:ea typeface="Arial"/>
                          <a:cs typeface="Arial"/>
                        </a:rPr>
                        <a:t>[Priority criterion 3]</a:t>
                      </a:r>
                    </a:p>
                  </a:txBody>
                  <a:tcPr marL="133350" marR="133350" marT="114300" marB="95250" anchor="ctr">
                    <a:solidFill>
                      <a:srgbClr val="FFFFFF"/>
                    </a:solidFill>
                  </a:tcPr>
                </a:tc>
                <a:tc>
                  <a:txBody>
                    <a:bodyPr/>
                    <a:lstStyle/>
                    <a:p>
                      <a:r>
                        <a:rPr sz="1575" b="1">
                          <a:solidFill>
                            <a:srgbClr val="007F82"/>
                          </a:solidFill>
                          <a:latin typeface="Arial"/>
                          <a:ea typeface="Arial"/>
                          <a:cs typeface="Arial"/>
                        </a:rPr>
                        <a:t>[Evidence]</a:t>
                      </a:r>
                    </a:p>
                  </a:txBody>
                  <a:tcPr marL="133350" marR="133350" marT="114300" marB="95250" anchor="ctr">
                    <a:solidFill>
                      <a:srgbClr val="EFF5F6"/>
                    </a:solidFill>
                  </a:tcPr>
                </a:tc>
                <a:tc>
                  <a:txBody>
                    <a:bodyPr/>
                    <a:lstStyle/>
                    <a:p>
                      <a:r>
                        <a:rPr sz="1575" b="0">
                          <a:solidFill>
                            <a:srgbClr val="183445"/>
                          </a:solidFill>
                          <a:latin typeface="Arial"/>
                          <a:ea typeface="Arial"/>
                          <a:cs typeface="Arial"/>
                        </a:rPr>
                        <a:t>[Evidence]</a:t>
                      </a:r>
                    </a:p>
                  </a:txBody>
                  <a:tcPr marL="133350" marR="133350" marT="114300" marB="95250" anchor="ctr">
                    <a:solidFill>
                      <a:srgbClr val="FFFFFF"/>
                    </a:solidFill>
                  </a:tcPr>
                </a:tc>
                <a:tc>
                  <a:txBody>
                    <a:bodyPr/>
                    <a:lstStyle/>
                    <a:p>
                      <a:r>
                        <a:rPr sz="1575" b="0">
                          <a:solidFill>
                            <a:srgbClr val="183445"/>
                          </a:solidFill>
                          <a:latin typeface="Arial"/>
                          <a:ea typeface="Arial"/>
                          <a:cs typeface="Arial"/>
                        </a:rPr>
                        <a:t>[Evidence]</a:t>
                      </a:r>
                    </a:p>
                  </a:txBody>
                  <a:tcPr marL="133350" marR="133350" marT="114300" marB="95250" anchor="ctr">
                    <a:solidFill>
                      <a:srgbClr val="FFFFFF"/>
                    </a:solidFill>
                  </a:tcPr>
                </a:tc>
              </a:tr>
              <a:tr h="619125">
                <a:tc>
                  <a:txBody>
                    <a:bodyPr/>
                    <a:lstStyle/>
                    <a:p>
                      <a:r>
                        <a:rPr sz="1575" b="1">
                          <a:solidFill>
                            <a:srgbClr val="183445"/>
                          </a:solidFill>
                          <a:latin typeface="Arial"/>
                          <a:ea typeface="Arial"/>
                          <a:cs typeface="Arial"/>
                        </a:rPr>
                        <a:t>Total customer cost</a:t>
                      </a:r>
                    </a:p>
                  </a:txBody>
                  <a:tcPr marL="133350" marR="133350" marT="114300" marB="95250" anchor="ctr">
                    <a:solidFill>
                      <a:srgbClr val="FFFFFF"/>
                    </a:solidFill>
                  </a:tcPr>
                </a:tc>
                <a:tc>
                  <a:txBody>
                    <a:bodyPr/>
                    <a:lstStyle/>
                    <a:p>
                      <a:r>
                        <a:rPr sz="1575" b="1">
                          <a:solidFill>
                            <a:srgbClr val="007F82"/>
                          </a:solidFill>
                          <a:latin typeface="Arial"/>
                          <a:ea typeface="Arial"/>
                          <a:cs typeface="Arial"/>
                        </a:rPr>
                        <a:t>[Comparable cost]</a:t>
                      </a:r>
                    </a:p>
                  </a:txBody>
                  <a:tcPr marL="133350" marR="133350" marT="114300" marB="95250" anchor="ctr">
                    <a:solidFill>
                      <a:srgbClr val="EFF5F6"/>
                    </a:solidFill>
                  </a:tcPr>
                </a:tc>
                <a:tc>
                  <a:txBody>
                    <a:bodyPr/>
                    <a:lstStyle/>
                    <a:p>
                      <a:r>
                        <a:rPr sz="1575" b="0">
                          <a:solidFill>
                            <a:srgbClr val="183445"/>
                          </a:solidFill>
                          <a:latin typeface="Arial"/>
                          <a:ea typeface="Arial"/>
                          <a:cs typeface="Arial"/>
                        </a:rPr>
                        <a:t>[Comparable cost]</a:t>
                      </a:r>
                    </a:p>
                  </a:txBody>
                  <a:tcPr marL="133350" marR="133350" marT="114300" marB="95250" anchor="ctr">
                    <a:solidFill>
                      <a:srgbClr val="FFFFFF"/>
                    </a:solidFill>
                  </a:tcPr>
                </a:tc>
                <a:tc>
                  <a:txBody>
                    <a:bodyPr/>
                    <a:lstStyle/>
                    <a:p>
                      <a:r>
                        <a:rPr sz="1575" b="0">
                          <a:solidFill>
                            <a:srgbClr val="183445"/>
                          </a:solidFill>
                          <a:latin typeface="Arial"/>
                          <a:ea typeface="Arial"/>
                          <a:cs typeface="Arial"/>
                        </a:rPr>
                        <a:t>[Comparable cost]</a:t>
                      </a:r>
                    </a:p>
                  </a:txBody>
                  <a:tcPr marL="133350" marR="133350" marT="114300" marB="95250" anchor="ctr">
                    <a:solidFill>
                      <a:srgbClr val="FFFFFF"/>
                    </a:solidFill>
                  </a:tcPr>
                </a:tc>
              </a:tr>
            </a:tbl>
          </a:graphicData>
        </a:graphic>
      </p:graphicFrame>
      <p:sp>
        <p:nvSpPr>
          <p:cNvPr id="7" name="Why the advantage persists">
            <a:extLst xmlns:a="http://schemas.openxmlformats.org/drawingml/2006/main">
              <a:ext uri="{FF2B5EF4-FFF2-40B4-BE49-F238E27FC236}">
                <a16:creationId xmlns:a16="http://schemas.microsoft.com/office/drawing/2014/main" id="{C6FB21EB-D912-4647-B976-06CB30D8B466}"/>
              </a:ext>
            </a:extLst>
          </p:cNvPr>
          <p:cNvSpPr>
            <a:spLocks xmlns:a="http://schemas.openxmlformats.org/drawingml/2006/main" noGrp="1"/>
          </p:cNvSpPr>
          <p:nvPr/>
        </p:nvSpPr>
        <p:spPr>
          <a:xfrm xmlns:a="http://schemas.openxmlformats.org/drawingml/2006/main">
            <a:off x="609600" y="5495925"/>
            <a:ext cx="320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chemeClr val="tx1"/>
                </a:solidFill>
                <a:latin typeface="Arial"/>
                <a:ea typeface="Arial"/>
                <a:cs typeface="Arial"/>
              </a:defRPr>
            </a:pPr>
            <a:r>
              <a:rPr sz="1650" b="1">
                <a:solidFill>
                  <a:schemeClr val="tx1"/>
                </a:solidFill>
                <a:latin typeface="Arial"/>
                <a:ea typeface="Arial"/>
                <a:cs typeface="Arial"/>
              </a:rPr>
              <a:t>Why the advantage persists</a:t>
            </a:r>
          </a:p>
        </p:txBody>
      </p:sp>
      <p:sp>
        <p:nvSpPr>
          <p:cNvPr id="8" name="[Specific asset, capability or distribution advantage]">
            <a:extLst xmlns:a="http://schemas.openxmlformats.org/drawingml/2006/main">
              <a:ext uri="{FF2B5EF4-FFF2-40B4-BE49-F238E27FC236}">
                <a16:creationId xmlns:a16="http://schemas.microsoft.com/office/drawing/2014/main" id="{EE5E493E-7239-4858-BD01-A0DF368149C5}"/>
              </a:ext>
            </a:extLst>
          </p:cNvPr>
          <p:cNvSpPr>
            <a:spLocks xmlns:a="http://schemas.openxmlformats.org/drawingml/2006/main" noGrp="1"/>
          </p:cNvSpPr>
          <p:nvPr/>
        </p:nvSpPr>
        <p:spPr>
          <a:xfrm xmlns:a="http://schemas.openxmlformats.org/drawingml/2006/main">
            <a:off x="4038600" y="5495925"/>
            <a:ext cx="7543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chemeClr val="accent2"/>
                </a:solidFill>
                <a:latin typeface="Arial"/>
                <a:ea typeface="Arial"/>
                <a:cs typeface="Arial"/>
              </a:defRPr>
            </a:pPr>
            <a:r>
              <a:rPr sz="1650" b="0">
                <a:solidFill>
                  <a:schemeClr val="accent2"/>
                </a:solidFill>
                <a:latin typeface="Arial"/>
                <a:ea typeface="Arial"/>
                <a:cs typeface="Arial"/>
              </a:rPr>
              <a:t>[Specific asset, capability or distribution advantage]</a:t>
            </a:r>
          </a:p>
        </p:txBody>
      </p:sp>
    </p:spTree>
    <p:extLst>
      <p:ext uri="{BB962C8B-B14F-4D97-AF65-F5344CB8AC3E}">
        <p14:creationId xmlns:p14="http://schemas.microsoft.com/office/powerpoint/2010/main" val="771049366"/>
      </p:ext>
    </p:extLst>
  </p:cSld>
</p:sld>
</file>

<file path=ppt/slides/slide9.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3" name="placeholder_1">
            <a:extLst xmlns:a="http://schemas.openxmlformats.org/drawingml/2006/main">
              <a:ext uri="{FF2B5EF4-FFF2-40B4-BE49-F238E27FC236}">
                <a16:creationId xmlns:a16="http://schemas.microsoft.com/office/drawing/2014/main" id="{833FCE52-7A61-4DA0-9362-4F0398CED9E5}"/>
              </a:ext>
            </a:extLst>
          </p:cNvPr>
          <p:cNvSpPr>
            <a:spLocks xmlns:a="http://schemas.openxmlformats.org/drawingml/2006/main" noGrp="1"/>
          </p:cNvSpPr>
          <p:nvPr>
            <p:ph type="title" idx="0"/>
          </p:nvPr>
        </p:nvSpPr>
        <p:spPr>
          <a:xfrm xmlns:a="http://schemas.openxmlformats.org/drawingml/2006/main">
            <a:off x="609600" y="695325"/>
            <a:ext cx="10972800" cy="9334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2850" b="1">
                <a:solidFill>
                  <a:schemeClr val="tx1"/>
                </a:solidFill>
                <a:latin typeface="Arial"/>
                <a:ea typeface="Arial"/>
                <a:cs typeface="Arial"/>
              </a:defRPr>
            </a:pPr>
            <a:r>
              <a:rPr sz="2850" b="1">
                <a:solidFill>
                  <a:schemeClr val="tx1"/>
                </a:solidFill>
                <a:latin typeface="Arial"/>
                <a:ea typeface="Arial"/>
                <a:cs typeface="Arial"/>
              </a:rPr>
              <a:t>[Channel] can acquire [customer segment] at [target cost]</a:t>
            </a:r>
          </a:p>
        </p:txBody>
      </p:sp>
      <p:sp>
        <p:nvSpPr>
          <p:cNvPr id="2" name="GO-TO-MARKET PLAN">
            <a:extLst xmlns:a="http://schemas.openxmlformats.org/drawingml/2006/main">
              <a:ext uri="{FF2B5EF4-FFF2-40B4-BE49-F238E27FC236}">
                <a16:creationId xmlns:a16="http://schemas.microsoft.com/office/drawing/2014/main" id="{C9945830-56C5-4330-8430-2CE05DE031A6}"/>
              </a:ext>
            </a:extLst>
          </p:cNvPr>
          <p:cNvSpPr>
            <a:spLocks xmlns:a="http://schemas.openxmlformats.org/drawingml/2006/main" noGrp="1"/>
          </p:cNvSpPr>
          <p:nvPr/>
        </p:nvSpPr>
        <p:spPr>
          <a:xfrm xmlns:a="http://schemas.openxmlformats.org/drawingml/2006/main">
            <a:off x="609600" y="323850"/>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chemeClr val="accent2"/>
                </a:solidFill>
                <a:latin typeface="Arial"/>
                <a:ea typeface="Arial"/>
                <a:cs typeface="Arial"/>
              </a:defRPr>
            </a:pPr>
            <a:r>
              <a:rPr sz="1125" b="1">
                <a:solidFill>
                  <a:schemeClr val="accent2"/>
                </a:solidFill>
                <a:latin typeface="Arial"/>
                <a:ea typeface="Arial"/>
                <a:cs typeface="Arial"/>
              </a:rPr>
              <a:t>GO-TO-MARKET PLAN</a:t>
            </a:r>
          </a:p>
        </p:txBody>
      </p:sp>
      <p:sp>
        <p:nvSpPr>
          <p:cNvPr id="3" name="[Company]   Confidential">
            <a:extLst xmlns:a="http://schemas.openxmlformats.org/drawingml/2006/main">
              <a:ext uri="{FF2B5EF4-FFF2-40B4-BE49-F238E27FC236}">
                <a16:creationId xmlns:a16="http://schemas.microsoft.com/office/drawing/2014/main" id="{E722048A-669F-46FC-96AA-ECD7C370EABB}"/>
              </a:ext>
            </a:extLst>
          </p:cNvPr>
          <p:cNvSpPr>
            <a:spLocks xmlns:a="http://schemas.openxmlformats.org/drawingml/2006/main" noGrp="1"/>
          </p:cNvSpPr>
          <p:nvPr/>
        </p:nvSpPr>
        <p:spPr>
          <a:xfrm xmlns:a="http://schemas.openxmlformats.org/drawingml/2006/main">
            <a:off x="609600" y="6429375"/>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[Company]   Confidential</a:t>
            </a:r>
          </a:p>
        </p:txBody>
      </p:sp>
      <p:sp>
        <p:nvSpPr>
          <p:cNvPr id="4" name="09">
            <a:extLst xmlns:a="http://schemas.openxmlformats.org/drawingml/2006/main">
              <a:ext uri="{FF2B5EF4-FFF2-40B4-BE49-F238E27FC236}">
                <a16:creationId xmlns:a16="http://schemas.microsoft.com/office/drawing/2014/main" id="{9E25D90F-53E7-4107-84C4-682D826B8F84}"/>
              </a:ext>
            </a:extLst>
          </p:cNvPr>
          <p:cNvSpPr>
            <a:spLocks xmlns:a="http://schemas.openxmlformats.org/drawingml/2006/main" noGrp="1"/>
          </p:cNvSpPr>
          <p:nvPr/>
        </p:nvSpPr>
        <p:spPr>
          <a:xfrm xmlns:a="http://schemas.openxmlformats.org/drawingml/2006/main">
            <a:off x="11163300" y="6429375"/>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chemeClr val="tx2"/>
                </a:solidFill>
                <a:latin typeface="Arial"/>
                <a:ea typeface="Arial"/>
                <a:cs typeface="Arial"/>
              </a:defRPr>
            </a:pPr>
            <a:r>
              <a:rPr sz="975" b="0">
                <a:solidFill>
                  <a:schemeClr val="tx2"/>
                </a:solidFill>
                <a:latin typeface="Arial"/>
                <a:ea typeface="Arial"/>
                <a:cs typeface="Arial"/>
              </a:rPr>
              <a:t>09</a:t>
            </a:r>
          </a:p>
        </p:txBody>
      </p:sp>
      <p:sp>
        <p:nvSpPr>
          <p:cNvPr id="5" name="Source: [Document / dataset, date, page or link]">
            <a:extLst xmlns:a="http://schemas.openxmlformats.org/drawingml/2006/main">
              <a:ext uri="{FF2B5EF4-FFF2-40B4-BE49-F238E27FC236}">
                <a16:creationId xmlns:a16="http://schemas.microsoft.com/office/drawing/2014/main" id="{838A5324-F821-4B7E-8488-2CA6D73BB48A}"/>
              </a:ext>
            </a:extLst>
          </p:cNvPr>
          <p:cNvSpPr>
            <a:spLocks xmlns:a="http://schemas.openxmlformats.org/drawingml/2006/main" noGrp="1"/>
          </p:cNvSpPr>
          <p:nvPr/>
        </p:nvSpPr>
        <p:spPr>
          <a:xfrm xmlns:a="http://schemas.openxmlformats.org/drawingml/2006/main">
            <a:off x="609600" y="598170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Source: [Document / dataset, date, page or link]</a:t>
            </a:r>
          </a:p>
        </p:txBody>
      </p:sp>
      <p:sp>
        <p:nvSpPr>
          <p:cNvPr id="6" name="01">
            <a:extLst xmlns:a="http://schemas.openxmlformats.org/drawingml/2006/main">
              <a:ext uri="{FF2B5EF4-FFF2-40B4-BE49-F238E27FC236}">
                <a16:creationId xmlns:a16="http://schemas.microsoft.com/office/drawing/2014/main" id="{946CE7A6-BDAC-4477-804D-B5252A118154}"/>
              </a:ext>
            </a:extLst>
          </p:cNvPr>
          <p:cNvSpPr>
            <a:spLocks xmlns:a="http://schemas.openxmlformats.org/drawingml/2006/main" noGrp="1"/>
          </p:cNvSpPr>
          <p:nvPr/>
        </p:nvSpPr>
        <p:spPr>
          <a:xfrm xmlns:a="http://schemas.openxmlformats.org/drawingml/2006/main">
            <a:off x="609600" y="1990725"/>
            <a:ext cx="742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chemeClr val="accent2"/>
                </a:solidFill>
                <a:latin typeface="Arial"/>
                <a:ea typeface="Arial"/>
                <a:cs typeface="Arial"/>
              </a:defRPr>
            </a:pPr>
            <a:r>
              <a:rPr sz="2775" b="1">
                <a:solidFill>
                  <a:schemeClr val="accent2"/>
                </a:solidFill>
                <a:latin typeface="Arial"/>
                <a:ea typeface="Arial"/>
                <a:cs typeface="Arial"/>
              </a:rPr>
              <a:t>01</a:t>
            </a:r>
          </a:p>
        </p:txBody>
      </p:sp>
      <p:sp>
        <p:nvSpPr>
          <p:cNvPr id="7" name="Reach the buyer">
            <a:extLst xmlns:a="http://schemas.openxmlformats.org/drawingml/2006/main">
              <a:ext uri="{FF2B5EF4-FFF2-40B4-BE49-F238E27FC236}">
                <a16:creationId xmlns:a16="http://schemas.microsoft.com/office/drawing/2014/main" id="{CFE52291-62CE-49CC-8AC8-11965B878D4D}"/>
              </a:ext>
            </a:extLst>
          </p:cNvPr>
          <p:cNvSpPr>
            <a:spLocks xmlns:a="http://schemas.openxmlformats.org/drawingml/2006/main" noGrp="1"/>
          </p:cNvSpPr>
          <p:nvPr/>
        </p:nvSpPr>
        <p:spPr>
          <a:xfrm xmlns:a="http://schemas.openxmlformats.org/drawingml/2006/main">
            <a:off x="609600" y="2609850"/>
            <a:ext cx="338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chemeClr val="tx1"/>
                </a:solidFill>
                <a:latin typeface="Arial"/>
                <a:ea typeface="Arial"/>
                <a:cs typeface="Arial"/>
              </a:defRPr>
            </a:pPr>
            <a:r>
              <a:rPr sz="1950" b="1">
                <a:solidFill>
                  <a:schemeClr val="tx1"/>
                </a:solidFill>
                <a:latin typeface="Arial"/>
                <a:ea typeface="Arial"/>
                <a:cs typeface="Arial"/>
              </a:rPr>
              <a:t>Reach the buyer</a:t>
            </a:r>
          </a:p>
        </p:txBody>
      </p:sp>
      <p:sp>
        <p:nvSpPr>
          <p:cNvPr id="8" name="[Initial customer profile]">
            <a:extLst xmlns:a="http://schemas.openxmlformats.org/drawingml/2006/main">
              <a:ext uri="{FF2B5EF4-FFF2-40B4-BE49-F238E27FC236}">
                <a16:creationId xmlns:a16="http://schemas.microsoft.com/office/drawing/2014/main" id="{785F4998-0406-46A8-A606-AF16D5356970}"/>
              </a:ext>
            </a:extLst>
          </p:cNvPr>
          <p:cNvSpPr>
            <a:spLocks xmlns:a="http://schemas.openxmlformats.org/drawingml/2006/main" noGrp="1"/>
          </p:cNvSpPr>
          <p:nvPr/>
        </p:nvSpPr>
        <p:spPr>
          <a:xfrm xmlns:a="http://schemas.openxmlformats.org/drawingml/2006/main">
            <a:off x="609600" y="3152775"/>
            <a:ext cx="3390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[Initial customer profile]</a:t>
            </a:r>
          </a:p>
        </p:txBody>
      </p:sp>
      <p:sp>
        <p:nvSpPr>
          <p:cNvPr id="9" name="[Channel and trigger]">
            <a:extLst xmlns:a="http://schemas.openxmlformats.org/drawingml/2006/main">
              <a:ext uri="{FF2B5EF4-FFF2-40B4-BE49-F238E27FC236}">
                <a16:creationId xmlns:a16="http://schemas.microsoft.com/office/drawing/2014/main" id="{EB40EA0B-821C-491D-B660-D15A216CB8E9}"/>
              </a:ext>
            </a:extLst>
          </p:cNvPr>
          <p:cNvSpPr>
            <a:spLocks xmlns:a="http://schemas.openxmlformats.org/drawingml/2006/main" noGrp="1"/>
          </p:cNvSpPr>
          <p:nvPr/>
        </p:nvSpPr>
        <p:spPr>
          <a:xfrm xmlns:a="http://schemas.openxmlformats.org/drawingml/2006/main">
            <a:off x="609600" y="3971925"/>
            <a:ext cx="3390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[Channel and trigger]</a:t>
            </a:r>
          </a:p>
        </p:txBody>
      </p:sp>
      <p:sp>
        <p:nvSpPr>
          <p:cNvPr id="10" name="02">
            <a:extLst xmlns:a="http://schemas.openxmlformats.org/drawingml/2006/main">
              <a:ext uri="{FF2B5EF4-FFF2-40B4-BE49-F238E27FC236}">
                <a16:creationId xmlns:a16="http://schemas.microsoft.com/office/drawing/2014/main" id="{0BCDF6D4-700A-416C-950A-0BD2200C5DB1}"/>
              </a:ext>
            </a:extLst>
          </p:cNvPr>
          <p:cNvSpPr>
            <a:spLocks xmlns:a="http://schemas.openxmlformats.org/drawingml/2006/main" noGrp="1"/>
          </p:cNvSpPr>
          <p:nvPr/>
        </p:nvSpPr>
        <p:spPr>
          <a:xfrm xmlns:a="http://schemas.openxmlformats.org/drawingml/2006/main">
            <a:off x="4391025" y="1990725"/>
            <a:ext cx="742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chemeClr val="accent2"/>
                </a:solidFill>
                <a:latin typeface="Arial"/>
                <a:ea typeface="Arial"/>
                <a:cs typeface="Arial"/>
              </a:defRPr>
            </a:pPr>
            <a:r>
              <a:rPr sz="2775" b="1">
                <a:solidFill>
                  <a:schemeClr val="accent2"/>
                </a:solidFill>
                <a:latin typeface="Arial"/>
                <a:ea typeface="Arial"/>
                <a:cs typeface="Arial"/>
              </a:rPr>
              <a:t>02</a:t>
            </a:r>
          </a:p>
        </p:txBody>
      </p:sp>
      <p:sp>
        <p:nvSpPr>
          <p:cNvPr id="11" name="Convert the buyer">
            <a:extLst xmlns:a="http://schemas.openxmlformats.org/drawingml/2006/main">
              <a:ext uri="{FF2B5EF4-FFF2-40B4-BE49-F238E27FC236}">
                <a16:creationId xmlns:a16="http://schemas.microsoft.com/office/drawing/2014/main" id="{7DC5D2FC-045A-487C-8215-FED4DEA087CF}"/>
              </a:ext>
            </a:extLst>
          </p:cNvPr>
          <p:cNvSpPr>
            <a:spLocks xmlns:a="http://schemas.openxmlformats.org/drawingml/2006/main" noGrp="1"/>
          </p:cNvSpPr>
          <p:nvPr/>
        </p:nvSpPr>
        <p:spPr>
          <a:xfrm xmlns:a="http://schemas.openxmlformats.org/drawingml/2006/main">
            <a:off x="4391025" y="2609850"/>
            <a:ext cx="338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chemeClr val="tx1"/>
                </a:solidFill>
                <a:latin typeface="Arial"/>
                <a:ea typeface="Arial"/>
                <a:cs typeface="Arial"/>
              </a:defRPr>
            </a:pPr>
            <a:r>
              <a:rPr sz="1950" b="1">
                <a:solidFill>
                  <a:schemeClr val="tx1"/>
                </a:solidFill>
                <a:latin typeface="Arial"/>
                <a:ea typeface="Arial"/>
                <a:cs typeface="Arial"/>
              </a:rPr>
              <a:t>Convert the buyer</a:t>
            </a:r>
          </a:p>
        </p:txBody>
      </p:sp>
      <p:sp>
        <p:nvSpPr>
          <p:cNvPr id="12" name="[Offer and sales motion]">
            <a:extLst xmlns:a="http://schemas.openxmlformats.org/drawingml/2006/main">
              <a:ext uri="{FF2B5EF4-FFF2-40B4-BE49-F238E27FC236}">
                <a16:creationId xmlns:a16="http://schemas.microsoft.com/office/drawing/2014/main" id="{96210F21-FE89-4A9D-9C08-955DA81FD147}"/>
              </a:ext>
            </a:extLst>
          </p:cNvPr>
          <p:cNvSpPr>
            <a:spLocks xmlns:a="http://schemas.openxmlformats.org/drawingml/2006/main" noGrp="1"/>
          </p:cNvSpPr>
          <p:nvPr/>
        </p:nvSpPr>
        <p:spPr>
          <a:xfrm xmlns:a="http://schemas.openxmlformats.org/drawingml/2006/main">
            <a:off x="4391025" y="3152775"/>
            <a:ext cx="3390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[Offer and sales motion]</a:t>
            </a:r>
          </a:p>
        </p:txBody>
      </p:sp>
      <p:sp>
        <p:nvSpPr>
          <p:cNvPr id="13" name="[Target conversion rate]">
            <a:extLst xmlns:a="http://schemas.openxmlformats.org/drawingml/2006/main">
              <a:ext uri="{FF2B5EF4-FFF2-40B4-BE49-F238E27FC236}">
                <a16:creationId xmlns:a16="http://schemas.microsoft.com/office/drawing/2014/main" id="{63F8C951-3EA0-4BDB-B448-96C2BC216AD3}"/>
              </a:ext>
            </a:extLst>
          </p:cNvPr>
          <p:cNvSpPr>
            <a:spLocks xmlns:a="http://schemas.openxmlformats.org/drawingml/2006/main" noGrp="1"/>
          </p:cNvSpPr>
          <p:nvPr/>
        </p:nvSpPr>
        <p:spPr>
          <a:xfrm xmlns:a="http://schemas.openxmlformats.org/drawingml/2006/main">
            <a:off x="4391025" y="3971925"/>
            <a:ext cx="3390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[Target conversion rate]</a:t>
            </a:r>
          </a:p>
        </p:txBody>
      </p:sp>
      <p:sp>
        <p:nvSpPr>
          <p:cNvPr id="14" name="03">
            <a:extLst xmlns:a="http://schemas.openxmlformats.org/drawingml/2006/main">
              <a:ext uri="{FF2B5EF4-FFF2-40B4-BE49-F238E27FC236}">
                <a16:creationId xmlns:a16="http://schemas.microsoft.com/office/drawing/2014/main" id="{1D4ECE21-7C29-4AD6-9A09-513C99EBBB15}"/>
              </a:ext>
            </a:extLst>
          </p:cNvPr>
          <p:cNvSpPr>
            <a:spLocks xmlns:a="http://schemas.openxmlformats.org/drawingml/2006/main" noGrp="1"/>
          </p:cNvSpPr>
          <p:nvPr/>
        </p:nvSpPr>
        <p:spPr>
          <a:xfrm xmlns:a="http://schemas.openxmlformats.org/drawingml/2006/main">
            <a:off x="8172450" y="1990725"/>
            <a:ext cx="742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chemeClr val="accent2"/>
                </a:solidFill>
                <a:latin typeface="Arial"/>
                <a:ea typeface="Arial"/>
                <a:cs typeface="Arial"/>
              </a:defRPr>
            </a:pPr>
            <a:r>
              <a:rPr sz="2775" b="1">
                <a:solidFill>
                  <a:schemeClr val="accent2"/>
                </a:solidFill>
                <a:latin typeface="Arial"/>
                <a:ea typeface="Arial"/>
                <a:cs typeface="Arial"/>
              </a:rPr>
              <a:t>03</a:t>
            </a:r>
          </a:p>
        </p:txBody>
      </p:sp>
      <p:sp>
        <p:nvSpPr>
          <p:cNvPr id="15" name="Retain and expand">
            <a:extLst xmlns:a="http://schemas.openxmlformats.org/drawingml/2006/main">
              <a:ext uri="{FF2B5EF4-FFF2-40B4-BE49-F238E27FC236}">
                <a16:creationId xmlns:a16="http://schemas.microsoft.com/office/drawing/2014/main" id="{0D580FCD-E139-4ADB-8D03-01056DD9EB8C}"/>
              </a:ext>
            </a:extLst>
          </p:cNvPr>
          <p:cNvSpPr>
            <a:spLocks xmlns:a="http://schemas.openxmlformats.org/drawingml/2006/main" noGrp="1"/>
          </p:cNvSpPr>
          <p:nvPr/>
        </p:nvSpPr>
        <p:spPr>
          <a:xfrm xmlns:a="http://schemas.openxmlformats.org/drawingml/2006/main">
            <a:off x="8172450" y="2609850"/>
            <a:ext cx="338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chemeClr val="tx1"/>
                </a:solidFill>
                <a:latin typeface="Arial"/>
                <a:ea typeface="Arial"/>
                <a:cs typeface="Arial"/>
              </a:defRPr>
            </a:pPr>
            <a:r>
              <a:rPr sz="1950" b="1">
                <a:solidFill>
                  <a:schemeClr val="tx1"/>
                </a:solidFill>
                <a:latin typeface="Arial"/>
                <a:ea typeface="Arial"/>
                <a:cs typeface="Arial"/>
              </a:rPr>
              <a:t>Retain and expand</a:t>
            </a:r>
          </a:p>
        </p:txBody>
      </p:sp>
      <p:sp>
        <p:nvSpPr>
          <p:cNvPr id="16" name="[Activation milestone]">
            <a:extLst xmlns:a="http://schemas.openxmlformats.org/drawingml/2006/main">
              <a:ext uri="{FF2B5EF4-FFF2-40B4-BE49-F238E27FC236}">
                <a16:creationId xmlns:a16="http://schemas.microsoft.com/office/drawing/2014/main" id="{2F64A754-20A2-462C-9CD8-151EF9FFCF7E}"/>
              </a:ext>
            </a:extLst>
          </p:cNvPr>
          <p:cNvSpPr>
            <a:spLocks xmlns:a="http://schemas.openxmlformats.org/drawingml/2006/main" noGrp="1"/>
          </p:cNvSpPr>
          <p:nvPr/>
        </p:nvSpPr>
        <p:spPr>
          <a:xfrm xmlns:a="http://schemas.openxmlformats.org/drawingml/2006/main">
            <a:off x="8172450" y="3152775"/>
            <a:ext cx="3390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[Activation milestone]</a:t>
            </a:r>
          </a:p>
        </p:txBody>
      </p:sp>
      <p:sp>
        <p:nvSpPr>
          <p:cNvPr id="17" name="[Renewal / expansion motion]">
            <a:extLst xmlns:a="http://schemas.openxmlformats.org/drawingml/2006/main">
              <a:ext uri="{FF2B5EF4-FFF2-40B4-BE49-F238E27FC236}">
                <a16:creationId xmlns:a16="http://schemas.microsoft.com/office/drawing/2014/main" id="{89A35895-FF3A-42A3-923B-A55B3DF16E5E}"/>
              </a:ext>
            </a:extLst>
          </p:cNvPr>
          <p:cNvSpPr>
            <a:spLocks xmlns:a="http://schemas.openxmlformats.org/drawingml/2006/main" noGrp="1"/>
          </p:cNvSpPr>
          <p:nvPr/>
        </p:nvSpPr>
        <p:spPr>
          <a:xfrm xmlns:a="http://schemas.openxmlformats.org/drawingml/2006/main">
            <a:off x="8172450" y="3971925"/>
            <a:ext cx="3390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[Renewal / expansion motion]</a:t>
            </a:r>
          </a:p>
        </p:txBody>
      </p:sp>
      <p:sp>
        <p:nvSpPr>
          <p:cNvPr id="18" name="">
            <a:extLst xmlns:a="http://schemas.openxmlformats.org/drawingml/2006/main">
              <a:ext uri="{FF2B5EF4-FFF2-40B4-BE49-F238E27FC236}">
                <a16:creationId xmlns:a16="http://schemas.microsoft.com/office/drawing/2014/main" id="{5B3AAD53-7C67-416F-993A-EDA62CC2327D}"/>
              </a:ext>
            </a:extLst>
          </p:cNvPr>
          <p:cNvSpPr>
            <a:spLocks xmlns:a="http://schemas.openxmlformats.org/drawingml/2006/main" noGrp="1"/>
          </p:cNvSpPr>
          <p:nvPr/>
        </p:nvSpPr>
        <p:spPr>
          <a:xfrm xmlns:a="http://schemas.openxmlformats.org/drawingml/2006/main">
            <a:off x="609600" y="4848225"/>
            <a:ext cx="10972800" cy="0"/>
          </a:xfrm>
          <a:prstGeom xmlns:a="http://schemas.openxmlformats.org/drawingml/2006/main" prst="line">
            <a:avLst/>
          </a:prstGeom>
          <a:noFill xmlns:a="http://schemas.openxmlformats.org/drawingml/2006/main"/>
          <a:ln xmlns:a="http://schemas.openxmlformats.org/drawingml/2006/main" w="9525">
            <a:solidFill>
              <a:srgbClr val="D9E2E7"/>
            </a:solidFill>
          </a:ln>
        </p:spPr>
      </p:sp>
      <p:sp>
        <p:nvSpPr>
          <p:cNvPr id="19" name="ACCOUNTABLE TEAM">
            <a:extLst xmlns:a="http://schemas.openxmlformats.org/drawingml/2006/main">
              <a:ext uri="{FF2B5EF4-FFF2-40B4-BE49-F238E27FC236}">
                <a16:creationId xmlns:a16="http://schemas.microsoft.com/office/drawing/2014/main" id="{E60F68C1-4F5E-4DD1-8F9D-D394AEA4E09A}"/>
              </a:ext>
            </a:extLst>
          </p:cNvPr>
          <p:cNvSpPr>
            <a:spLocks xmlns:a="http://schemas.openxmlformats.org/drawingml/2006/main" noGrp="1"/>
          </p:cNvSpPr>
          <p:nvPr/>
        </p:nvSpPr>
        <p:spPr>
          <a:xfrm xmlns:a="http://schemas.openxmlformats.org/drawingml/2006/main">
            <a:off x="609600" y="5133975"/>
            <a:ext cx="2305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chemeClr val="accent2"/>
                </a:solidFill>
                <a:latin typeface="Arial"/>
                <a:ea typeface="Arial"/>
                <a:cs typeface="Arial"/>
              </a:defRPr>
            </a:pPr>
            <a:r>
              <a:rPr sz="1200" b="1">
                <a:solidFill>
                  <a:schemeClr val="accent2"/>
                </a:solidFill>
                <a:latin typeface="Arial"/>
                <a:ea typeface="Arial"/>
                <a:cs typeface="Arial"/>
              </a:rPr>
              <a:t>ACCOUNTABLE TEAM</a:t>
            </a:r>
          </a:p>
        </p:txBody>
      </p:sp>
      <p:sp>
        <p:nvSpPr>
          <p:cNvPr id="20" name="[Owner and role]">
            <a:extLst xmlns:a="http://schemas.openxmlformats.org/drawingml/2006/main">
              <a:ext uri="{FF2B5EF4-FFF2-40B4-BE49-F238E27FC236}">
                <a16:creationId xmlns:a16="http://schemas.microsoft.com/office/drawing/2014/main" id="{306C3820-98B8-48C3-8D9F-7507112EEAA8}"/>
              </a:ext>
            </a:extLst>
          </p:cNvPr>
          <p:cNvSpPr>
            <a:spLocks xmlns:a="http://schemas.openxmlformats.org/drawingml/2006/main" noGrp="1"/>
          </p:cNvSpPr>
          <p:nvPr/>
        </p:nvSpPr>
        <p:spPr>
          <a:xfrm xmlns:a="http://schemas.openxmlformats.org/drawingml/2006/main">
            <a:off x="3143250" y="5076825"/>
            <a:ext cx="3638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chemeClr val="tx1"/>
                </a:solidFill>
                <a:latin typeface="Arial"/>
                <a:ea typeface="Arial"/>
                <a:cs typeface="Arial"/>
              </a:defRPr>
            </a:pPr>
            <a:r>
              <a:rPr sz="1800" b="1">
                <a:solidFill>
                  <a:schemeClr val="tx1"/>
                </a:solidFill>
                <a:latin typeface="Arial"/>
                <a:ea typeface="Arial"/>
                <a:cs typeface="Arial"/>
              </a:rPr>
              <a:t>[Owner and role]</a:t>
            </a:r>
          </a:p>
        </p:txBody>
      </p:sp>
      <p:sp>
        <p:nvSpPr>
          <p:cNvPr id="21" name="[Relevant achievement or expertise]">
            <a:extLst xmlns:a="http://schemas.openxmlformats.org/drawingml/2006/main">
              <a:ext uri="{FF2B5EF4-FFF2-40B4-BE49-F238E27FC236}">
                <a16:creationId xmlns:a16="http://schemas.microsoft.com/office/drawing/2014/main" id="{CF30BC39-E6B2-4CE7-B7A8-C76B61BA49DB}"/>
              </a:ext>
            </a:extLst>
          </p:cNvPr>
          <p:cNvSpPr>
            <a:spLocks xmlns:a="http://schemas.openxmlformats.org/drawingml/2006/main" noGrp="1"/>
          </p:cNvSpPr>
          <p:nvPr/>
        </p:nvSpPr>
        <p:spPr>
          <a:xfrm xmlns:a="http://schemas.openxmlformats.org/drawingml/2006/main">
            <a:off x="3143250" y="5495925"/>
            <a:ext cx="8439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chemeClr val="tx2"/>
                </a:solidFill>
                <a:latin typeface="Arial"/>
                <a:ea typeface="Arial"/>
                <a:cs typeface="Arial"/>
              </a:defRPr>
            </a:pPr>
            <a:r>
              <a:rPr sz="1575" b="0">
                <a:solidFill>
                  <a:schemeClr val="tx2"/>
                </a:solidFill>
                <a:latin typeface="Arial"/>
                <a:ea typeface="Arial"/>
                <a:cs typeface="Arial"/>
              </a:rPr>
              <a:t>[Relevant achievement or expertise]</a:t>
            </a:r>
          </a:p>
        </p:txBody>
      </p:sp>
      <p:sp>
        <p:nvSpPr>
          <p:cNvPr id="22" name="[Next critical hire]">
            <a:extLst xmlns:a="http://schemas.openxmlformats.org/drawingml/2006/main">
              <a:ext uri="{FF2B5EF4-FFF2-40B4-BE49-F238E27FC236}">
                <a16:creationId xmlns:a16="http://schemas.microsoft.com/office/drawing/2014/main" id="{9439F478-2EA8-4277-999C-EE644226FDAD}"/>
              </a:ext>
            </a:extLst>
          </p:cNvPr>
          <p:cNvSpPr>
            <a:spLocks xmlns:a="http://schemas.openxmlformats.org/drawingml/2006/main" noGrp="1"/>
          </p:cNvSpPr>
          <p:nvPr/>
        </p:nvSpPr>
        <p:spPr>
          <a:xfrm xmlns:a="http://schemas.openxmlformats.org/drawingml/2006/main">
            <a:off x="8048625" y="5076825"/>
            <a:ext cx="35337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chemeClr val="tx1"/>
                </a:solidFill>
                <a:latin typeface="Arial"/>
                <a:ea typeface="Arial"/>
                <a:cs typeface="Arial"/>
              </a:defRPr>
            </a:pPr>
            <a:r>
              <a:rPr sz="1650" b="0">
                <a:solidFill>
                  <a:schemeClr val="tx1"/>
                </a:solidFill>
                <a:latin typeface="Arial"/>
                <a:ea typeface="Arial"/>
                <a:cs typeface="Arial"/>
              </a:rPr>
              <a:t>[Next critical hire]</a:t>
            </a:r>
          </a:p>
        </p:txBody>
      </p:sp>
    </p:spTree>
    <p:extLst>
      <p:ext uri="{BB962C8B-B14F-4D97-AF65-F5344CB8AC3E}">
        <p14:creationId xmlns:p14="http://schemas.microsoft.com/office/powerpoint/2010/main" val="1448230250"/>
      </p:ext>
    </p:extLst>
  </p:cSld>
</p:sld>
</file>

<file path=ppt/slides/slide10.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4" name="placeholder_1">
            <a:extLst xmlns:a="http://schemas.openxmlformats.org/drawingml/2006/main">
              <a:ext uri="{FF2B5EF4-FFF2-40B4-BE49-F238E27FC236}">
                <a16:creationId xmlns:a16="http://schemas.microsoft.com/office/drawing/2014/main" id="{918F64FC-9737-4345-AC71-B904FE4E8619}"/>
              </a:ext>
            </a:extLst>
          </p:cNvPr>
          <p:cNvSpPr>
            <a:spLocks xmlns:a="http://schemas.openxmlformats.org/drawingml/2006/main" noGrp="1"/>
          </p:cNvSpPr>
          <p:nvPr>
            <p:ph type="title" idx="0"/>
          </p:nvPr>
        </p:nvSpPr>
        <p:spPr>
          <a:xfrm xmlns:a="http://schemas.openxmlformats.org/drawingml/2006/main">
            <a:off x="609600" y="695325"/>
            <a:ext cx="10972800" cy="9334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2850" b="1">
                <a:solidFill>
                  <a:schemeClr val="tx1"/>
                </a:solidFill>
                <a:latin typeface="Arial"/>
                <a:ea typeface="Arial"/>
                <a:cs typeface="Arial"/>
              </a:defRPr>
            </a:pPr>
            <a:r>
              <a:rPr sz="2850" b="1">
                <a:solidFill>
                  <a:schemeClr val="tx1"/>
                </a:solidFill>
                <a:latin typeface="Arial"/>
                <a:ea typeface="Arial"/>
                <a:cs typeface="Arial"/>
              </a:rPr>
              <a:t>[Currency X] funds [milestone] within [N months]</a:t>
            </a:r>
          </a:p>
        </p:txBody>
      </p:sp>
      <p:sp>
        <p:nvSpPr>
          <p:cNvPr id="2" name="FUNDING AND MILESTONES">
            <a:extLst xmlns:a="http://schemas.openxmlformats.org/drawingml/2006/main">
              <a:ext uri="{FF2B5EF4-FFF2-40B4-BE49-F238E27FC236}">
                <a16:creationId xmlns:a16="http://schemas.microsoft.com/office/drawing/2014/main" id="{13E94250-AB2F-4088-9C9C-7146C0205DA2}"/>
              </a:ext>
            </a:extLst>
          </p:cNvPr>
          <p:cNvSpPr>
            <a:spLocks xmlns:a="http://schemas.openxmlformats.org/drawingml/2006/main" noGrp="1"/>
          </p:cNvSpPr>
          <p:nvPr/>
        </p:nvSpPr>
        <p:spPr>
          <a:xfrm xmlns:a="http://schemas.openxmlformats.org/drawingml/2006/main">
            <a:off x="609600" y="323850"/>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chemeClr val="accent2"/>
                </a:solidFill>
                <a:latin typeface="Arial"/>
                <a:ea typeface="Arial"/>
                <a:cs typeface="Arial"/>
              </a:defRPr>
            </a:pPr>
            <a:r>
              <a:rPr sz="1125" b="1">
                <a:solidFill>
                  <a:schemeClr val="accent2"/>
                </a:solidFill>
                <a:latin typeface="Arial"/>
                <a:ea typeface="Arial"/>
                <a:cs typeface="Arial"/>
              </a:rPr>
              <a:t>FUNDING AND MILESTONES</a:t>
            </a:r>
          </a:p>
        </p:txBody>
      </p:sp>
      <p:sp>
        <p:nvSpPr>
          <p:cNvPr id="3" name="[Company]   Confidential">
            <a:extLst xmlns:a="http://schemas.openxmlformats.org/drawingml/2006/main">
              <a:ext uri="{FF2B5EF4-FFF2-40B4-BE49-F238E27FC236}">
                <a16:creationId xmlns:a16="http://schemas.microsoft.com/office/drawing/2014/main" id="{C20E4B56-672C-4B48-8457-C48405C9C2CB}"/>
              </a:ext>
            </a:extLst>
          </p:cNvPr>
          <p:cNvSpPr>
            <a:spLocks xmlns:a="http://schemas.openxmlformats.org/drawingml/2006/main" noGrp="1"/>
          </p:cNvSpPr>
          <p:nvPr/>
        </p:nvSpPr>
        <p:spPr>
          <a:xfrm xmlns:a="http://schemas.openxmlformats.org/drawingml/2006/main">
            <a:off x="609600" y="6429375"/>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[Company]   Confidential</a:t>
            </a:r>
          </a:p>
        </p:txBody>
      </p:sp>
      <p:sp>
        <p:nvSpPr>
          <p:cNvPr id="4" name="10">
            <a:extLst xmlns:a="http://schemas.openxmlformats.org/drawingml/2006/main">
              <a:ext uri="{FF2B5EF4-FFF2-40B4-BE49-F238E27FC236}">
                <a16:creationId xmlns:a16="http://schemas.microsoft.com/office/drawing/2014/main" id="{ECE70C18-9E5B-4698-AF3D-DE3296408B25}"/>
              </a:ext>
            </a:extLst>
          </p:cNvPr>
          <p:cNvSpPr>
            <a:spLocks xmlns:a="http://schemas.openxmlformats.org/drawingml/2006/main" noGrp="1"/>
          </p:cNvSpPr>
          <p:nvPr/>
        </p:nvSpPr>
        <p:spPr>
          <a:xfrm xmlns:a="http://schemas.openxmlformats.org/drawingml/2006/main">
            <a:off x="11163300" y="6429375"/>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chemeClr val="tx2"/>
                </a:solidFill>
                <a:latin typeface="Arial"/>
                <a:ea typeface="Arial"/>
                <a:cs typeface="Arial"/>
              </a:defRPr>
            </a:pPr>
            <a:r>
              <a:rPr sz="975" b="0">
                <a:solidFill>
                  <a:schemeClr val="tx2"/>
                </a:solidFill>
                <a:latin typeface="Arial"/>
                <a:ea typeface="Arial"/>
                <a:cs typeface="Arial"/>
              </a:rPr>
              <a:t>10</a:t>
            </a:r>
          </a:p>
        </p:txBody>
      </p:sp>
      <p:sp>
        <p:nvSpPr>
          <p:cNvPr id="5" name="Source: [Document / dataset, date, page or link]">
            <a:extLst xmlns:a="http://schemas.openxmlformats.org/drawingml/2006/main">
              <a:ext uri="{FF2B5EF4-FFF2-40B4-BE49-F238E27FC236}">
                <a16:creationId xmlns:a16="http://schemas.microsoft.com/office/drawing/2014/main" id="{0DC1DB0E-7B28-4E79-AF4E-2A49641DF37E}"/>
              </a:ext>
            </a:extLst>
          </p:cNvPr>
          <p:cNvSpPr>
            <a:spLocks xmlns:a="http://schemas.openxmlformats.org/drawingml/2006/main" noGrp="1"/>
          </p:cNvSpPr>
          <p:nvPr/>
        </p:nvSpPr>
        <p:spPr>
          <a:xfrm xmlns:a="http://schemas.openxmlformats.org/drawingml/2006/main">
            <a:off x="609600" y="598170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chemeClr val="tx2"/>
                </a:solidFill>
                <a:latin typeface="Arial"/>
                <a:ea typeface="Arial"/>
                <a:cs typeface="Arial"/>
              </a:defRPr>
            </a:pPr>
            <a:r>
              <a:rPr sz="975" b="0">
                <a:solidFill>
                  <a:schemeClr val="tx2"/>
                </a:solidFill>
                <a:latin typeface="Arial"/>
                <a:ea typeface="Arial"/>
                <a:cs typeface="Arial"/>
              </a:rPr>
              <a:t>Source: [Document / dataset, date, page or link]</a:t>
            </a:r>
          </a:p>
        </p:txBody>
      </p:sp>
      <p:sp>
        <p:nvSpPr>
          <p:cNvPr id="6" name="[Currency X]">
            <a:extLst xmlns:a="http://schemas.openxmlformats.org/drawingml/2006/main">
              <a:ext uri="{FF2B5EF4-FFF2-40B4-BE49-F238E27FC236}">
                <a16:creationId xmlns:a16="http://schemas.microsoft.com/office/drawing/2014/main" id="{FA17EC03-B011-49A0-B5E8-ADFBCD468A3E}"/>
              </a:ext>
            </a:extLst>
          </p:cNvPr>
          <p:cNvSpPr>
            <a:spLocks xmlns:a="http://schemas.openxmlformats.org/drawingml/2006/main" noGrp="1"/>
          </p:cNvSpPr>
          <p:nvPr/>
        </p:nvSpPr>
        <p:spPr>
          <a:xfrm xmlns:a="http://schemas.openxmlformats.org/drawingml/2006/main">
            <a:off x="609600" y="2066925"/>
            <a:ext cx="3590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b="1">
                <a:solidFill>
                  <a:schemeClr val="accent2"/>
                </a:solidFill>
                <a:latin typeface="Arial"/>
                <a:ea typeface="Arial"/>
                <a:cs typeface="Arial"/>
              </a:defRPr>
            </a:pPr>
            <a:r>
              <a:rPr sz="3825" b="1">
                <a:solidFill>
                  <a:schemeClr val="accent2"/>
                </a:solidFill>
                <a:latin typeface="Arial"/>
                <a:ea typeface="Arial"/>
                <a:cs typeface="Arial"/>
              </a:rPr>
              <a:t>[Currency X]</a:t>
            </a:r>
          </a:p>
        </p:txBody>
      </p:sp>
      <p:sp>
        <p:nvSpPr>
          <p:cNvPr id="7" name="[Round / investment request]">
            <a:extLst xmlns:a="http://schemas.openxmlformats.org/drawingml/2006/main">
              <a:ext uri="{FF2B5EF4-FFF2-40B4-BE49-F238E27FC236}">
                <a16:creationId xmlns:a16="http://schemas.microsoft.com/office/drawing/2014/main" id="{CCDACE3A-12B9-4FDF-91D4-A46F2003B742}"/>
              </a:ext>
            </a:extLst>
          </p:cNvPr>
          <p:cNvSpPr>
            <a:spLocks xmlns:a="http://schemas.openxmlformats.org/drawingml/2006/main" noGrp="1"/>
          </p:cNvSpPr>
          <p:nvPr/>
        </p:nvSpPr>
        <p:spPr>
          <a:xfrm xmlns:a="http://schemas.openxmlformats.org/drawingml/2006/main">
            <a:off x="609600" y="2962275"/>
            <a:ext cx="35909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chemeClr val="tx1"/>
                </a:solidFill>
                <a:latin typeface="Arial"/>
                <a:ea typeface="Arial"/>
                <a:cs typeface="Arial"/>
              </a:defRPr>
            </a:pPr>
            <a:r>
              <a:rPr sz="1800" b="1">
                <a:solidFill>
                  <a:schemeClr val="tx1"/>
                </a:solidFill>
                <a:latin typeface="Arial"/>
                <a:ea typeface="Arial"/>
                <a:cs typeface="Arial"/>
              </a:rPr>
              <a:t>[Round / investment request]</a:t>
            </a:r>
          </a:p>
        </p:txBody>
      </p:sp>
      <p:sp>
        <p:nvSpPr>
          <p:cNvPr id="8" name="[N months] runway">
            <a:extLst xmlns:a="http://schemas.openxmlformats.org/drawingml/2006/main">
              <a:ext uri="{FF2B5EF4-FFF2-40B4-BE49-F238E27FC236}">
                <a16:creationId xmlns:a16="http://schemas.microsoft.com/office/drawing/2014/main" id="{68416662-7890-4790-99BC-D9E4936BD71B}"/>
              </a:ext>
            </a:extLst>
          </p:cNvPr>
          <p:cNvSpPr>
            <a:spLocks xmlns:a="http://schemas.openxmlformats.org/drawingml/2006/main" noGrp="1"/>
          </p:cNvSpPr>
          <p:nvPr/>
        </p:nvSpPr>
        <p:spPr>
          <a:xfrm xmlns:a="http://schemas.openxmlformats.org/drawingml/2006/main">
            <a:off x="609600" y="3743325"/>
            <a:ext cx="35909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chemeClr val="tx1"/>
                </a:solidFill>
                <a:latin typeface="Arial"/>
                <a:ea typeface="Arial"/>
                <a:cs typeface="Arial"/>
              </a:defRPr>
            </a:pPr>
            <a:r>
              <a:rPr sz="2100" b="0">
                <a:solidFill>
                  <a:schemeClr val="tx1"/>
                </a:solidFill>
                <a:latin typeface="Arial"/>
                <a:ea typeface="Arial"/>
                <a:cs typeface="Arial"/>
              </a:rPr>
              <a:t>[N months] runway</a:t>
            </a:r>
          </a:p>
        </p:txBody>
      </p:sp>
      <p:sp>
        <p:nvSpPr>
          <p:cNvPr id="9" name="Decision requested">
            <a:extLst xmlns:a="http://schemas.openxmlformats.org/drawingml/2006/main">
              <a:ext uri="{FF2B5EF4-FFF2-40B4-BE49-F238E27FC236}">
                <a16:creationId xmlns:a16="http://schemas.microsoft.com/office/drawing/2014/main" id="{064691FD-F98F-4575-97DB-C433FA5BB873}"/>
              </a:ext>
            </a:extLst>
          </p:cNvPr>
          <p:cNvSpPr>
            <a:spLocks xmlns:a="http://schemas.openxmlformats.org/drawingml/2006/main" noGrp="1"/>
          </p:cNvSpPr>
          <p:nvPr/>
        </p:nvSpPr>
        <p:spPr>
          <a:xfrm xmlns:a="http://schemas.openxmlformats.org/drawingml/2006/main">
            <a:off x="609600" y="4619625"/>
            <a:ext cx="3590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chemeClr val="tx1"/>
                </a:solidFill>
                <a:latin typeface="Arial"/>
                <a:ea typeface="Arial"/>
                <a:cs typeface="Arial"/>
              </a:defRPr>
            </a:pPr>
            <a:r>
              <a:rPr sz="1725" b="1">
                <a:solidFill>
                  <a:schemeClr val="tx1"/>
                </a:solidFill>
                <a:latin typeface="Arial"/>
                <a:ea typeface="Arial"/>
                <a:cs typeface="Arial"/>
              </a:rPr>
              <a:t>Decision requested</a:t>
            </a:r>
          </a:p>
        </p:txBody>
      </p:sp>
      <p:sp>
        <p:nvSpPr>
          <p:cNvPr id="10" name="[Specific approval and&#10;next meeting or deadline]">
            <a:extLst xmlns:a="http://schemas.openxmlformats.org/drawingml/2006/main">
              <a:ext uri="{FF2B5EF4-FFF2-40B4-BE49-F238E27FC236}">
                <a16:creationId xmlns:a16="http://schemas.microsoft.com/office/drawing/2014/main" id="{FA791533-FF51-4C74-9641-BD2F049BD031}"/>
              </a:ext>
            </a:extLst>
          </p:cNvPr>
          <p:cNvSpPr>
            <a:spLocks xmlns:a="http://schemas.openxmlformats.org/drawingml/2006/main" noGrp="1"/>
          </p:cNvSpPr>
          <p:nvPr/>
        </p:nvSpPr>
        <p:spPr>
          <a:xfrm xmlns:a="http://schemas.openxmlformats.org/drawingml/2006/main">
            <a:off x="609600" y="5057775"/>
            <a:ext cx="35909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[Specific approval and</a:t>
            </a:r>
          </a:p>
          <a:p xmlns:a="http://schemas.openxmlformats.org/drawingml/2006/main">
            <a:pPr>
              <a:defRPr sz="1725" b="0">
                <a:solidFill>
                  <a:schemeClr val="tx2"/>
                </a:solidFill>
                <a:latin typeface="Arial"/>
                <a:ea typeface="Arial"/>
                <a:cs typeface="Arial"/>
              </a:defRPr>
            </a:pPr>
            <a:r>
              <a:rPr sz="1725" b="0">
                <a:solidFill>
                  <a:schemeClr val="tx2"/>
                </a:solidFill>
                <a:latin typeface="Arial"/>
                <a:ea typeface="Arial"/>
                <a:cs typeface="Arial"/>
              </a:rPr>
              <a:t>next meeting or deadline]</a:t>
            </a:r>
          </a:p>
        </p:txBody>
      </p:sp>
      <p:graphicFrame>
        <p:nvGraphicFramePr>
          <p:cNvPr id="24" name=""/>
          <p:cNvGraphicFramePr/>
          <p:nvPr/>
        </p:nvGraphicFramePr>
        <p:xfrm>
          <a:off xmlns:a="http://schemas.openxmlformats.org/drawingml/2006/main" x="4552950" y="2085975"/>
          <a:ext xmlns:a="http://schemas.openxmlformats.org/drawingml/2006/main" cx="7029450" cy="2724150"/>
        </p:xfrm>
        <a:graphic xmlns:a="http://schemas.openxmlformats.org/drawingml/2006/main">
          <a:graphicData uri="http://schemas.openxmlformats.org/drawingml/2006/table">
            <a:tbl>
              <a:tblPr/>
              <a:tblGrid>
                <a:gridCol w="2200275"/>
                <a:gridCol w="1724025"/>
                <a:gridCol w="3105150"/>
              </a:tblGrid>
              <a:tr h="681038">
                <a:tc>
                  <a:txBody>
                    <a:bodyPr/>
                    <a:lstStyle/>
                    <a:p>
                      <a:r>
                        <a:rPr sz="1500" b="1">
                          <a:solidFill>
                            <a:srgbClr val="FFFFFF"/>
                          </a:solidFill>
                          <a:latin typeface="Arial"/>
                          <a:ea typeface="Arial"/>
                          <a:cs typeface="Arial"/>
                        </a:rPr>
                        <a:t>Use of funds</a:t>
                      </a:r>
                    </a:p>
                  </a:txBody>
                  <a:tcPr marL="133350" marR="133350" marT="114300" marB="95250" anchor="ctr">
                    <a:solidFill>
                      <a:srgbClr val="092B40"/>
                    </a:solidFill>
                  </a:tcPr>
                </a:tc>
                <a:tc>
                  <a:txBody>
                    <a:bodyPr/>
                    <a:lstStyle/>
                    <a:p>
                      <a:r>
                        <a:rPr sz="1500" b="1">
                          <a:solidFill>
                            <a:srgbClr val="FFFFFF"/>
                          </a:solidFill>
                          <a:latin typeface="Arial"/>
                          <a:ea typeface="Arial"/>
                          <a:cs typeface="Arial"/>
                        </a:rPr>
                        <a:t>Amount</a:t>
                      </a:r>
                    </a:p>
                  </a:txBody>
                  <a:tcPr marL="133350" marR="133350" marT="114300" marB="95250" anchor="ctr">
                    <a:solidFill>
                      <a:srgbClr val="092B40"/>
                    </a:solidFill>
                  </a:tcPr>
                </a:tc>
                <a:tc>
                  <a:txBody>
                    <a:bodyPr/>
                    <a:lstStyle/>
                    <a:p>
                      <a:r>
                        <a:rPr sz="1500" b="1">
                          <a:solidFill>
                            <a:srgbClr val="FFFFFF"/>
                          </a:solidFill>
                          <a:latin typeface="Arial"/>
                          <a:ea typeface="Arial"/>
                          <a:cs typeface="Arial"/>
                        </a:rPr>
                        <a:t>Milestone / timing</a:t>
                      </a:r>
                    </a:p>
                  </a:txBody>
                  <a:tcPr marL="133350" marR="133350" marT="114300" marB="95250" anchor="ctr">
                    <a:solidFill>
                      <a:srgbClr val="092B40"/>
                    </a:solidFill>
                  </a:tcPr>
                </a:tc>
              </a:tr>
              <a:tr h="681038">
                <a:tc>
                  <a:txBody>
                    <a:bodyPr/>
                    <a:lstStyle/>
                    <a:p>
                      <a:r>
                        <a:rPr sz="1500" b="1">
                          <a:solidFill>
                            <a:srgbClr val="183445"/>
                          </a:solidFill>
                          <a:latin typeface="Arial"/>
                          <a:ea typeface="Arial"/>
                          <a:cs typeface="Arial"/>
                        </a:rPr>
                        <a:t>[Product / delivery]</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[Currency X]</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[Outcome, date, owner]</a:t>
                      </a:r>
                    </a:p>
                  </a:txBody>
                  <a:tcPr marL="133350" marR="133350" marT="114300" marB="95250" anchor="ctr">
                    <a:solidFill>
                      <a:srgbClr val="FFFFFF"/>
                    </a:solidFill>
                  </a:tcPr>
                </a:tc>
              </a:tr>
              <a:tr h="681038">
                <a:tc>
                  <a:txBody>
                    <a:bodyPr/>
                    <a:lstStyle/>
                    <a:p>
                      <a:r>
                        <a:rPr sz="1500" b="1">
                          <a:solidFill>
                            <a:srgbClr val="183445"/>
                          </a:solidFill>
                          <a:latin typeface="Arial"/>
                          <a:ea typeface="Arial"/>
                          <a:cs typeface="Arial"/>
                        </a:rPr>
                        <a:t>[Customer growth]</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[Currency X]</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[Outcome, date, owner]</a:t>
                      </a:r>
                    </a:p>
                  </a:txBody>
                  <a:tcPr marL="133350" marR="133350" marT="114300" marB="95250" anchor="ctr">
                    <a:solidFill>
                      <a:srgbClr val="FFFFFF"/>
                    </a:solidFill>
                  </a:tcPr>
                </a:tc>
              </a:tr>
              <a:tr h="681038">
                <a:tc>
                  <a:txBody>
                    <a:bodyPr/>
                    <a:lstStyle/>
                    <a:p>
                      <a:r>
                        <a:rPr sz="1500" b="1">
                          <a:solidFill>
                            <a:srgbClr val="183445"/>
                          </a:solidFill>
                          <a:latin typeface="Arial"/>
                          <a:ea typeface="Arial"/>
                          <a:cs typeface="Arial"/>
                        </a:rPr>
                        <a:t>[Operations / reserve]</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[Currency X]</a:t>
                      </a:r>
                    </a:p>
                  </a:txBody>
                  <a:tcPr marL="133350" marR="133350" marT="114300" marB="95250" anchor="ctr">
                    <a:solidFill>
                      <a:srgbClr val="FFFFFF"/>
                    </a:solidFill>
                  </a:tcPr>
                </a:tc>
                <a:tc>
                  <a:txBody>
                    <a:bodyPr/>
                    <a:lstStyle/>
                    <a:p>
                      <a:r>
                        <a:rPr sz="1500" b="0">
                          <a:solidFill>
                            <a:srgbClr val="183445"/>
                          </a:solidFill>
                          <a:latin typeface="Arial"/>
                          <a:ea typeface="Arial"/>
                          <a:cs typeface="Arial"/>
                        </a:rPr>
                        <a:t>[Outcome, date, owner]</a:t>
                      </a:r>
                    </a:p>
                  </a:txBody>
                  <a:tcPr marL="133350" marR="133350" marT="114300" marB="95250" anchor="ctr">
                    <a:solidFill>
                      <a:srgbClr val="FFFFFF"/>
                    </a:solidFill>
                  </a:tcPr>
                </a:tc>
              </a:tr>
            </a:tbl>
          </a:graphicData>
        </a:graphic>
      </p:graphicFrame>
      <p:sp>
        <p:nvSpPr>
          <p:cNvPr id="12" name="Main risk and response">
            <a:extLst xmlns:a="http://schemas.openxmlformats.org/drawingml/2006/main">
              <a:ext uri="{FF2B5EF4-FFF2-40B4-BE49-F238E27FC236}">
                <a16:creationId xmlns:a16="http://schemas.microsoft.com/office/drawing/2014/main" id="{9EBCA8D3-9C78-48EC-BA9A-DF955038AEF5}"/>
              </a:ext>
            </a:extLst>
          </p:cNvPr>
          <p:cNvSpPr>
            <a:spLocks xmlns:a="http://schemas.openxmlformats.org/drawingml/2006/main" noGrp="1"/>
          </p:cNvSpPr>
          <p:nvPr/>
        </p:nvSpPr>
        <p:spPr>
          <a:xfrm xmlns:a="http://schemas.openxmlformats.org/drawingml/2006/main">
            <a:off x="4552950" y="5124450"/>
            <a:ext cx="702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chemeClr val="tx1"/>
                </a:solidFill>
                <a:latin typeface="Arial"/>
                <a:ea typeface="Arial"/>
                <a:cs typeface="Arial"/>
              </a:defRPr>
            </a:pPr>
            <a:r>
              <a:rPr sz="1725" b="1">
                <a:solidFill>
                  <a:schemeClr val="tx1"/>
                </a:solidFill>
                <a:latin typeface="Arial"/>
                <a:ea typeface="Arial"/>
                <a:cs typeface="Arial"/>
              </a:rPr>
              <a:t>Main risk and response</a:t>
            </a:r>
          </a:p>
        </p:txBody>
      </p:sp>
      <p:sp>
        <p:nvSpPr>
          <p:cNvPr id="13" name="[Risk]  /  [Mitigation and decision trigger]">
            <a:extLst xmlns:a="http://schemas.openxmlformats.org/drawingml/2006/main">
              <a:ext uri="{FF2B5EF4-FFF2-40B4-BE49-F238E27FC236}">
                <a16:creationId xmlns:a16="http://schemas.microsoft.com/office/drawing/2014/main" id="{261474A8-962C-41C5-A9A4-89BBE0CDED1D}"/>
              </a:ext>
            </a:extLst>
          </p:cNvPr>
          <p:cNvSpPr>
            <a:spLocks xmlns:a="http://schemas.openxmlformats.org/drawingml/2006/main" noGrp="1"/>
          </p:cNvSpPr>
          <p:nvPr/>
        </p:nvSpPr>
        <p:spPr>
          <a:xfrm xmlns:a="http://schemas.openxmlformats.org/drawingml/2006/main">
            <a:off x="4552950" y="5543550"/>
            <a:ext cx="7029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chemeClr val="tx2"/>
                </a:solidFill>
                <a:latin typeface="Arial"/>
                <a:ea typeface="Arial"/>
                <a:cs typeface="Arial"/>
              </a:defRPr>
            </a:pPr>
            <a:r>
              <a:rPr sz="1575" b="0">
                <a:solidFill>
                  <a:schemeClr val="tx2"/>
                </a:solidFill>
                <a:latin typeface="Arial"/>
                <a:ea typeface="Arial"/>
                <a:cs typeface="Arial"/>
              </a:rPr>
              <a:t>[Risk]  /  [Mitigation and decision trigger]</a:t>
            </a:r>
          </a:p>
        </p:txBody>
      </p:sp>
    </p:spTree>
    <p:extLst>
      <p:ext uri="{BB962C8B-B14F-4D97-AF65-F5344CB8AC3E}">
        <p14:creationId xmlns:p14="http://schemas.microsoft.com/office/powerpoint/2010/main" val="2130425865"/>
      </p:ext>
    </p:extLst>
  </p:cSld>
</p:sld>
</file>

<file path=ppt/theme/theme1.xml><?xml version="1.0" encoding="utf-8"?>
<a:theme xmlns:a="http://schemas.openxmlformats.org/drawingml/2006/main" name="ChatGPT">
  <a:themeElements>
    <a:clrScheme name="Consulting Master 01">
      <a:dk1>
        <a:srgbClr val="183445"/>
      </a:dk1>
      <a:lt1>
        <a:srgbClr val="FFFFFF"/>
      </a:lt1>
      <a:dk2>
        <a:srgbClr val="092B40"/>
      </a:dk2>
      <a:lt2>
        <a:srgbClr val="EFF5F6"/>
      </a:lt2>
      <a:accent1>
        <a:srgbClr val="092B40"/>
      </a:accent1>
      <a:accent2>
        <a:srgbClr val="007F82"/>
      </a:accent2>
      <a:accent3>
        <a:srgbClr val="9EB4C0"/>
      </a:accent3>
      <a:accent4>
        <a:srgbClr val="B67E31"/>
      </a:accent4>
      <a:accent5>
        <a:srgbClr val="8E514E"/>
      </a:accent5>
      <a:accent6>
        <a:srgbClr val="576976"/>
      </a:accent6>
      <a:hlink>
        <a:srgbClr val="007F82"/>
      </a:hlink>
      <a:folHlink>
        <a:srgbClr val="007F82"/>
      </a:folHlink>
    </a:clrScheme>
    <a:fontScheme name="Office">
      <a:majorFont>
        <a:latin typeface="Calibri Light"/>
        <a:ea typeface="Calibri Light"/>
        <a:cs typeface="Calibri Light"/>
      </a:majorFont>
      <a:minorFont>
        <a:latin typeface="Calibri"/>
        <a:ea typeface="Calibri"/>
        <a:cs typeface="Calibri"/>
      </a:minorFont>
    </a:fontScheme>
    <a:fmtScheme name="Consulting Master 01">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2026-10-05T03:38:02.7520000Z</dcterms:created>
  <dcterms:modified xsi:type="dcterms:W3CDTF">2026-10-05T03:38:02.7520000Z</dcterms:modified>
</coreProperties>
</file>